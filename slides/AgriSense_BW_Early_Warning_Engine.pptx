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part of AgriSense BW is the early-warning engine: it takes the crop alerts from Thapelo and the livestock alerts from Abel and turns them into one list that farmers can understand. I also took over the dashboard, and added a small database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input files had different shapes: the crop file has six rows in exactly the shared format, the livestock file has thirty daily rows with extra columns. The engine reads both, applies the rules, adds advice and writes final_alerts.csv. That file keeps the team's six shared columns first, then adds an ID, a category, dates, details and the position. The database and dashboard read from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reasons in plain language, so a farmer can read them; the technical numbers are kept in a details column. Two: the livestock file has one row per animal per day, so an animal that was flagged five days in a row appeared five times; the engine merges those. Three: my own addition to the brief - if an animal moves unusually far on three or more days in a row, it is raised to High because it may be lost or stolen. Four: the outbreak rule from the team plan. Advice comes from advice_templates.csv in English and Setswana; six Setswana texts still need a native speaker.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produces 31 alerts: 3 High, 24 Medium and 4 Low. The most important one is H3-05, which has walked away from its herd for five days and is now far from it, so the farmer is told to look for it today and report it if it is missing. The outbreak rule did not fire on our data: Abel's model flags two animals as possibly ill and the rule needs three. The rule only counts Abel's flags; it does not add its own temperature check. It is covered by unit tests, so it will fire as soon as the livestock model flags three animals within seven days.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dashboard is a small SQLite database. One script loads all CSV files into tables, in a single transaction, so a broken file never leaves half a database. The dark table, alert_status, is the reason for having a database at all: when someone marks an alert as acknowledged or resolved in the dashboard, that is stored there, and it is kept when the engine runs again and the alerts are reloaded. For a real service we would move to PostgreSQL.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start it with uvicorn dashboard.main:app and open localhost port 8000. Alerts tab: filter by risk, change a status, switch the advice to Setswana. Livestock tab: H3-05's path is the dashed red line; clicking H2-04 shows its temperature crossing the 39.5 degree fever line on 19 September. Crops tab: yield per site, with the 2024 forecast table. All JavaScript libraries are served locally; only the map tiles need internet. FastAPI also generates interactive API documentation at /docs.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limitation: the outbreak rule can only be as good as the livestock detection. Three animals in herd H2 had a fever from about 19 to 23 September, but the model compares each animal with its herd's average, and that average drops when several animals are ill at once, so H2-09 was never flagged. Comparing each animal with its own normal values, or adding a fever rule, would catch it. Also: one GPS position per day, sample data only, and six Setswana translations missing.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Motif 1"/>
          <p:cNvSpPr/>
          <p:nvPr/>
        </p:nvSpPr>
        <p:spPr>
          <a:xfrm>
            <a:off x="8899855" y="914400"/>
            <a:ext cx="822960" cy="822960"/>
          </a:xfrm>
          <a:prstGeom prst="ellipse">
            <a:avLst/>
          </a:prstGeom>
          <a:solidFill>
            <a:srgbClr val="6DA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2"/>
          <p:cNvSpPr/>
          <p:nvPr/>
        </p:nvSpPr>
        <p:spPr>
          <a:xfrm>
            <a:off x="9814255" y="141732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3"/>
          <p:cNvSpPr/>
          <p:nvPr/>
        </p:nvSpPr>
        <p:spPr>
          <a:xfrm>
            <a:off x="9219895" y="2057400"/>
            <a:ext cx="822960" cy="82296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548640" y="2011680"/>
            <a:ext cx="8686800" cy="1097280"/>
          </a:xfrm>
          <a:prstGeom prst="rect">
            <a:avLst/>
          </a:prstGeom>
          <a:noFill/>
        </p:spPr>
        <p:txBody>
          <a:bodyPr wrap="square" lIns="0" rIns="0" tIns="0" bIns="0" anchor="t">
            <a:spAutoFit/>
          </a:bodyPr>
          <a:lstStyle/>
          <a:p>
            <a:pPr algn="l">
              <a:spcAft>
                <a:spcPts val="600"/>
              </a:spcAft>
            </a:pPr>
            <a:r>
              <a:rPr sz="6000" b="1">
                <a:solidFill>
                  <a:srgbClr val="FFFFFF"/>
                </a:solidFill>
                <a:latin typeface="Cambria"/>
              </a:rPr>
              <a:t>AgriSense BW</a:t>
            </a:r>
          </a:p>
        </p:txBody>
      </p:sp>
      <p:sp>
        <p:nvSpPr>
          <p:cNvPr id="6" name="TextBox 5"/>
          <p:cNvSpPr txBox="1"/>
          <p:nvPr/>
        </p:nvSpPr>
        <p:spPr>
          <a:xfrm>
            <a:off x="548640" y="3154680"/>
            <a:ext cx="9144000" cy="914400"/>
          </a:xfrm>
          <a:prstGeom prst="rect">
            <a:avLst/>
          </a:prstGeom>
          <a:noFill/>
        </p:spPr>
        <p:txBody>
          <a:bodyPr wrap="square" lIns="0" rIns="0" tIns="0" bIns="0" anchor="t">
            <a:spAutoFit/>
          </a:bodyPr>
          <a:lstStyle/>
          <a:p>
            <a:pPr algn="l">
              <a:spcAft>
                <a:spcPts val="600"/>
              </a:spcAft>
            </a:pPr>
            <a:r>
              <a:rPr sz="3200" b="0">
                <a:solidFill>
                  <a:srgbClr val="6DA9D6"/>
                </a:solidFill>
                <a:latin typeface="Calibri"/>
              </a:rPr>
              <a:t>Early-warning engine, database and dashboard</a:t>
            </a:r>
          </a:p>
        </p:txBody>
      </p:sp>
      <p:sp>
        <p:nvSpPr>
          <p:cNvPr id="7" name="TextBox 6"/>
          <p:cNvSpPr txBox="1"/>
          <p:nvPr/>
        </p:nvSpPr>
        <p:spPr>
          <a:xfrm>
            <a:off x="548640" y="4754880"/>
            <a:ext cx="10058400" cy="914400"/>
          </a:xfrm>
          <a:prstGeom prst="rect">
            <a:avLst/>
          </a:prstGeom>
          <a:noFill/>
        </p:spPr>
        <p:txBody>
          <a:bodyPr wrap="square" lIns="0" rIns="0" tIns="0" bIns="0" anchor="t">
            <a:spAutoFit/>
          </a:bodyPr>
          <a:lstStyle/>
          <a:p>
            <a:pPr algn="l">
              <a:spcAft>
                <a:spcPts val="600"/>
              </a:spcAft>
            </a:pPr>
            <a:r>
              <a:rPr sz="2400" b="1">
                <a:solidFill>
                  <a:srgbClr val="FFFFFF"/>
                </a:solidFill>
                <a:latin typeface="Calibri"/>
              </a:rPr>
              <a:t>Philipp Schöneberg</a:t>
            </a:r>
          </a:p>
          <a:p>
            <a:pPr algn="l">
              <a:spcAft>
                <a:spcPts val="600"/>
              </a:spcAft>
            </a:pPr>
            <a:r>
              <a:rPr sz="2400" b="0">
                <a:solidFill>
                  <a:srgbClr val="FFFFFF"/>
                </a:solidFill>
                <a:latin typeface="Calibri"/>
              </a:rPr>
              <a:t>Data Science Club, Botho University · Gaborone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141414"/>
                </a:solidFill>
                <a:latin typeface="Cambria"/>
              </a:rPr>
              <a:t>Two alert files, one list farmers can read</a:t>
            </a:r>
          </a:p>
        </p:txBody>
      </p:sp>
      <p:sp>
        <p:nvSpPr>
          <p:cNvPr id="3" name="Input 1"/>
          <p:cNvSpPr/>
          <p:nvPr/>
        </p:nvSpPr>
        <p:spPr>
          <a:xfrm>
            <a:off x="548640" y="1737360"/>
            <a:ext cx="2651760" cy="141732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2286000" cy="105156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crop_alerts.csv</a:t>
            </a:r>
          </a:p>
          <a:p>
            <a:pPr algn="l">
              <a:spcAft>
                <a:spcPts val="600"/>
              </a:spcAft>
            </a:pPr>
            <a:r>
              <a:rPr sz="2200" b="0">
                <a:solidFill>
                  <a:srgbClr val="141414"/>
                </a:solidFill>
                <a:latin typeface="Calibri"/>
              </a:rPr>
              <a:t>6 rows · Thapelo</a:t>
            </a:r>
          </a:p>
        </p:txBody>
      </p:sp>
      <p:cxnSp>
        <p:nvCxnSpPr>
          <p:cNvPr id="5" name="Connector 4"/>
          <p:cNvCxnSpPr/>
          <p:nvPr/>
        </p:nvCxnSpPr>
        <p:spPr>
          <a:xfrm>
            <a:off x="3200400" y="2446020"/>
            <a:ext cx="731520" cy="864108"/>
          </a:xfrm>
          <a:prstGeom prst="line">
            <a:avLst/>
          </a:prstGeom>
          <a:ln w="38100">
            <a:solidFill>
              <a:srgbClr val="3D3C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Input 2"/>
          <p:cNvSpPr/>
          <p:nvPr/>
        </p:nvSpPr>
        <p:spPr>
          <a:xfrm>
            <a:off x="548640" y="3520440"/>
            <a:ext cx="2651760" cy="141732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749040"/>
            <a:ext cx="2286000" cy="105156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livestock_alerts.csv</a:t>
            </a:r>
          </a:p>
          <a:p>
            <a:pPr algn="l">
              <a:spcAft>
                <a:spcPts val="600"/>
              </a:spcAft>
            </a:pPr>
            <a:r>
              <a:rPr sz="2200" b="0">
                <a:solidFill>
                  <a:srgbClr val="141414"/>
                </a:solidFill>
                <a:latin typeface="Calibri"/>
              </a:rPr>
              <a:t>30 rows · Abel</a:t>
            </a:r>
          </a:p>
        </p:txBody>
      </p:sp>
      <p:cxnSp>
        <p:nvCxnSpPr>
          <p:cNvPr id="8" name="Connector 7"/>
          <p:cNvCxnSpPr/>
          <p:nvPr/>
        </p:nvCxnSpPr>
        <p:spPr>
          <a:xfrm flipV="1">
            <a:off x="3200400" y="3310128"/>
            <a:ext cx="731520" cy="918972"/>
          </a:xfrm>
          <a:prstGeom prst="line">
            <a:avLst/>
          </a:prstGeom>
          <a:ln w="38100">
            <a:solidFill>
              <a:srgbClr val="3D3C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Step 1"/>
          <p:cNvSpPr/>
          <p:nvPr/>
        </p:nvSpPr>
        <p:spPr>
          <a:xfrm>
            <a:off x="3931920" y="2423160"/>
            <a:ext cx="2377440" cy="1783080"/>
          </a:xfrm>
          <a:prstGeom prst="roundRect">
            <a:avLst>
              <a:gd name="adj" fmla="val 8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69080" y="2606040"/>
            <a:ext cx="2103120" cy="1417320"/>
          </a:xfrm>
          <a:prstGeom prst="rect">
            <a:avLst/>
          </a:prstGeom>
          <a:noFill/>
        </p:spPr>
        <p:txBody>
          <a:bodyPr wrap="square" lIns="0" rIns="0" tIns="0" bIns="0" anchor="ctr">
            <a:spAutoFit/>
          </a:bodyPr>
          <a:lstStyle/>
          <a:p>
            <a:pPr algn="l">
              <a:spcAft>
                <a:spcPts val="600"/>
              </a:spcAft>
            </a:pPr>
            <a:r>
              <a:rPr sz="2200" b="1">
                <a:solidFill>
                  <a:srgbClr val="FFFFFF"/>
                </a:solidFill>
                <a:latin typeface="Calibri"/>
              </a:rPr>
              <a:t>alert_engine.py</a:t>
            </a:r>
          </a:p>
          <a:p>
            <a:pPr algn="l">
              <a:spcAft>
                <a:spcPts val="600"/>
              </a:spcAft>
            </a:pPr>
            <a:r>
              <a:rPr sz="2200" b="0">
                <a:solidFill>
                  <a:srgbClr val="FFFFFF"/>
                </a:solidFill>
                <a:latin typeface="Calibri"/>
              </a:rPr>
              <a:t>merge · rules · advice</a:t>
            </a:r>
          </a:p>
        </p:txBody>
      </p:sp>
      <p:cxnSp>
        <p:nvCxnSpPr>
          <p:cNvPr id="11" name="Connector 10"/>
          <p:cNvCxnSpPr/>
          <p:nvPr/>
        </p:nvCxnSpPr>
        <p:spPr>
          <a:xfrm>
            <a:off x="6309360" y="3310128"/>
            <a:ext cx="274320" cy="0"/>
          </a:xfrm>
          <a:prstGeom prst="line">
            <a:avLst/>
          </a:prstGeom>
          <a:ln w="38100">
            <a:solidFill>
              <a:srgbClr val="3D3C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ep 2"/>
          <p:cNvSpPr/>
          <p:nvPr/>
        </p:nvSpPr>
        <p:spPr>
          <a:xfrm>
            <a:off x="6583680" y="2423160"/>
            <a:ext cx="2377440" cy="1783080"/>
          </a:xfrm>
          <a:prstGeom prst="roundRect">
            <a:avLst>
              <a:gd name="adj" fmla="val 8000"/>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606040"/>
            <a:ext cx="2103120" cy="1417320"/>
          </a:xfrm>
          <a:prstGeom prst="rect">
            <a:avLst/>
          </a:prstGeom>
          <a:noFill/>
        </p:spPr>
        <p:txBody>
          <a:bodyPr wrap="square" lIns="0" rIns="0" tIns="0" bIns="0" anchor="ctr">
            <a:spAutoFit/>
          </a:bodyPr>
          <a:lstStyle/>
          <a:p>
            <a:pPr algn="l">
              <a:spcAft>
                <a:spcPts val="600"/>
              </a:spcAft>
            </a:pPr>
            <a:r>
              <a:rPr sz="2200" b="1">
                <a:solidFill>
                  <a:srgbClr val="FFFFFF"/>
                </a:solidFill>
                <a:latin typeface="Calibri"/>
              </a:rPr>
              <a:t>final_alerts.csv</a:t>
            </a:r>
          </a:p>
          <a:p>
            <a:pPr algn="l">
              <a:spcAft>
                <a:spcPts val="600"/>
              </a:spcAft>
            </a:pPr>
            <a:r>
              <a:rPr sz="2200" b="0">
                <a:solidFill>
                  <a:srgbClr val="FFFFFF"/>
                </a:solidFill>
                <a:latin typeface="Calibri"/>
              </a:rPr>
              <a:t>31 alerts</a:t>
            </a:r>
          </a:p>
        </p:txBody>
      </p:sp>
      <p:cxnSp>
        <p:nvCxnSpPr>
          <p:cNvPr id="14" name="Connector 13"/>
          <p:cNvCxnSpPr/>
          <p:nvPr/>
        </p:nvCxnSpPr>
        <p:spPr>
          <a:xfrm>
            <a:off x="8961120" y="3310128"/>
            <a:ext cx="274320" cy="0"/>
          </a:xfrm>
          <a:prstGeom prst="line">
            <a:avLst/>
          </a:prstGeom>
          <a:ln w="38100">
            <a:solidFill>
              <a:srgbClr val="3D3C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tep 3"/>
          <p:cNvSpPr/>
          <p:nvPr/>
        </p:nvSpPr>
        <p:spPr>
          <a:xfrm>
            <a:off x="9235440" y="2423160"/>
            <a:ext cx="2377440" cy="1783080"/>
          </a:xfrm>
          <a:prstGeom prst="roundRect">
            <a:avLst>
              <a:gd name="adj" fmla="val 8000"/>
            </a:avLst>
          </a:prstGeom>
          <a:solidFill>
            <a:srgbClr val="E6F0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2606040"/>
            <a:ext cx="2103120" cy="141732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SQLite + dashboard</a:t>
            </a:r>
          </a:p>
          <a:p>
            <a:pPr algn="l">
              <a:spcAft>
                <a:spcPts val="600"/>
              </a:spcAft>
            </a:pPr>
            <a:r>
              <a:rPr sz="2200" b="0">
                <a:solidFill>
                  <a:srgbClr val="141414"/>
                </a:solidFill>
                <a:latin typeface="Calibri"/>
              </a:rPr>
              <a:t>status · map · charts</a:t>
            </a:r>
          </a:p>
        </p:txBody>
      </p:sp>
      <p:sp>
        <p:nvSpPr>
          <p:cNvPr id="17" name="TextBox 16"/>
          <p:cNvSpPr txBox="1"/>
          <p:nvPr/>
        </p:nvSpPr>
        <p:spPr>
          <a:xfrm>
            <a:off x="548640" y="5349240"/>
            <a:ext cx="11094415" cy="548640"/>
          </a:xfrm>
          <a:prstGeom prst="rect">
            <a:avLst/>
          </a:prstGeom>
          <a:noFill/>
        </p:spPr>
        <p:txBody>
          <a:bodyPr wrap="square" lIns="0" rIns="0" tIns="0" bIns="0" anchor="t">
            <a:spAutoFit/>
          </a:bodyPr>
          <a:lstStyle/>
          <a:p>
            <a:pPr algn="l">
              <a:spcAft>
                <a:spcPts val="600"/>
              </a:spcAft>
            </a:pPr>
            <a:r>
              <a:rPr sz="2400" b="0">
                <a:solidFill>
                  <a:srgbClr val="3D3C39"/>
                </a:solidFill>
                <a:latin typeface="Calibri"/>
              </a:rPr>
              <a:t>The six shared columns stay first, so everyone's format still fits.</a:t>
            </a:r>
          </a:p>
        </p:txBody>
      </p:sp>
      <p:sp>
        <p:nvSpPr>
          <p:cNvPr id="18" name="TextBox 17"/>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3D3C39"/>
                </a:solidFill>
                <a:latin typeface="Calibri"/>
              </a:rPr>
              <a:t>AgriSense BW · Early-warning engine · demo with sample data</a:t>
            </a:r>
          </a:p>
        </p:txBody>
      </p:sp>
      <p:sp>
        <p:nvSpPr>
          <p:cNvPr id="19" name="TextBox 18"/>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3D3C3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141414"/>
                </a:solidFill>
                <a:latin typeface="Cambria"/>
              </a:rPr>
              <a:t>Four rules turn raw flags into clear alerts</a:t>
            </a:r>
          </a:p>
        </p:txBody>
      </p:sp>
      <p:sp>
        <p:nvSpPr>
          <p:cNvPr id="3" name="Rule 1"/>
          <p:cNvSpPr/>
          <p:nvPr/>
        </p:nvSpPr>
        <p:spPr>
          <a:xfrm>
            <a:off x="548640" y="1508760"/>
            <a:ext cx="5349240" cy="182880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78308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1</a:t>
            </a:r>
          </a:p>
        </p:txBody>
      </p:sp>
      <p:sp>
        <p:nvSpPr>
          <p:cNvPr id="5" name="TextBox 4"/>
          <p:cNvSpPr txBox="1"/>
          <p:nvPr/>
        </p:nvSpPr>
        <p:spPr>
          <a:xfrm>
            <a:off x="1645920" y="1783080"/>
            <a:ext cx="4023360" cy="137160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Plain language</a:t>
            </a:r>
          </a:p>
          <a:p>
            <a:pPr algn="l">
              <a:spcAft>
                <a:spcPts val="600"/>
              </a:spcAft>
            </a:pPr>
            <a:r>
              <a:rPr sz="2200" b="0">
                <a:solidFill>
                  <a:srgbClr val="141414"/>
                </a:solidFill>
                <a:latin typeface="Calibri"/>
              </a:rPr>
              <a:t>Every reason is rewritten for farmers; the numbers move to a details column.</a:t>
            </a:r>
          </a:p>
        </p:txBody>
      </p:sp>
      <p:sp>
        <p:nvSpPr>
          <p:cNvPr id="6" name="Rule 2"/>
          <p:cNvSpPr/>
          <p:nvPr/>
        </p:nvSpPr>
        <p:spPr>
          <a:xfrm>
            <a:off x="6263640" y="1508760"/>
            <a:ext cx="5349240" cy="182880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37960" y="178308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2</a:t>
            </a:r>
          </a:p>
        </p:txBody>
      </p:sp>
      <p:sp>
        <p:nvSpPr>
          <p:cNvPr id="8" name="TextBox 7"/>
          <p:cNvSpPr txBox="1"/>
          <p:nvPr/>
        </p:nvSpPr>
        <p:spPr>
          <a:xfrm>
            <a:off x="7360920" y="1783080"/>
            <a:ext cx="4023360" cy="137160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Merge repeats</a:t>
            </a:r>
          </a:p>
          <a:p>
            <a:pPr algn="l">
              <a:spcAft>
                <a:spcPts val="600"/>
              </a:spcAft>
            </a:pPr>
            <a:r>
              <a:rPr sz="2200" b="0">
                <a:solidFill>
                  <a:srgbClr val="141414"/>
                </a:solidFill>
                <a:latin typeface="Calibri"/>
              </a:rPr>
              <a:t>Same animal, same problem, days in a row = one alert: 30 daily flags become 25 alerts.</a:t>
            </a:r>
          </a:p>
        </p:txBody>
      </p:sp>
      <p:sp>
        <p:nvSpPr>
          <p:cNvPr id="9" name="Rule 3"/>
          <p:cNvSpPr/>
          <p:nvPr/>
        </p:nvSpPr>
        <p:spPr>
          <a:xfrm>
            <a:off x="548640" y="3657600"/>
            <a:ext cx="5349240" cy="182880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393192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3</a:t>
            </a:r>
          </a:p>
        </p:txBody>
      </p:sp>
      <p:sp>
        <p:nvSpPr>
          <p:cNvPr id="11" name="TextBox 10"/>
          <p:cNvSpPr txBox="1"/>
          <p:nvPr/>
        </p:nvSpPr>
        <p:spPr>
          <a:xfrm>
            <a:off x="1645920" y="3931920"/>
            <a:ext cx="4023360" cy="137160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Straying rule</a:t>
            </a:r>
          </a:p>
          <a:p>
            <a:pPr algn="l">
              <a:spcAft>
                <a:spcPts val="600"/>
              </a:spcAft>
            </a:pPr>
            <a:r>
              <a:rPr sz="2200" b="0">
                <a:solidFill>
                  <a:srgbClr val="141414"/>
                </a:solidFill>
                <a:latin typeface="Calibri"/>
              </a:rPr>
              <a:t>Unusual movement on 3 or more days in a row becomes High: possibly lost or stolen.</a:t>
            </a:r>
          </a:p>
        </p:txBody>
      </p:sp>
      <p:sp>
        <p:nvSpPr>
          <p:cNvPr id="12" name="Rule 4"/>
          <p:cNvSpPr/>
          <p:nvPr/>
        </p:nvSpPr>
        <p:spPr>
          <a:xfrm>
            <a:off x="6263640" y="3657600"/>
            <a:ext cx="5349240" cy="182880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60" y="393192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4</a:t>
            </a:r>
          </a:p>
        </p:txBody>
      </p:sp>
      <p:sp>
        <p:nvSpPr>
          <p:cNvPr id="14" name="TextBox 13"/>
          <p:cNvSpPr txBox="1"/>
          <p:nvPr/>
        </p:nvSpPr>
        <p:spPr>
          <a:xfrm>
            <a:off x="7360920" y="3931920"/>
            <a:ext cx="4023360" cy="137160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Outbreak rule</a:t>
            </a:r>
          </a:p>
          <a:p>
            <a:pPr algn="l">
              <a:spcAft>
                <a:spcPts val="600"/>
              </a:spcAft>
            </a:pPr>
            <a:r>
              <a:rPr sz="2200" b="0">
                <a:solidFill>
                  <a:srgbClr val="141414"/>
                </a:solidFill>
                <a:latin typeface="Calibri"/>
              </a:rPr>
              <a:t>3 or more possibly ill animals in one district within 7 days: High warning for veterinary services.</a:t>
            </a:r>
          </a:p>
        </p:txBody>
      </p:sp>
      <p:sp>
        <p:nvSpPr>
          <p:cNvPr id="15" name="TextBox 14"/>
          <p:cNvSpPr txBox="1"/>
          <p:nvPr/>
        </p:nvSpPr>
        <p:spPr>
          <a:xfrm>
            <a:off x="548640" y="5623560"/>
            <a:ext cx="11094415" cy="548640"/>
          </a:xfrm>
          <a:prstGeom prst="rect">
            <a:avLst/>
          </a:prstGeom>
          <a:noFill/>
        </p:spPr>
        <p:txBody>
          <a:bodyPr wrap="square" lIns="0" rIns="0" tIns="0" bIns="0" anchor="t">
            <a:spAutoFit/>
          </a:bodyPr>
          <a:lstStyle/>
          <a:p>
            <a:pPr algn="l">
              <a:spcAft>
                <a:spcPts val="600"/>
              </a:spcAft>
            </a:pPr>
            <a:r>
              <a:rPr sz="2200" b="1">
                <a:solidFill>
                  <a:srgbClr val="3D3C39"/>
                </a:solidFill>
                <a:latin typeface="Calibri"/>
              </a:rPr>
              <a:t>Advice: </a:t>
            </a:r>
            <a:r>
              <a:rPr sz="2200" b="0">
                <a:solidFill>
                  <a:srgbClr val="3D3C39"/>
                </a:solidFill>
                <a:latin typeface="Calibri"/>
              </a:rPr>
              <a:t>every alert gets advice in English and Setswana from one template file.</a:t>
            </a:r>
          </a:p>
        </p:txBody>
      </p:sp>
      <p:sp>
        <p:nvSpPr>
          <p:cNvPr id="16" name="TextBox 15"/>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3D3C39"/>
                </a:solidFill>
                <a:latin typeface="Calibri"/>
              </a:rPr>
              <a:t>AgriSense BW · Early-warning engine · demo with sample data</a:t>
            </a:r>
          </a:p>
        </p:txBody>
      </p:sp>
      <p:sp>
        <p:nvSpPr>
          <p:cNvPr id="17" name="TextBox 16"/>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3D3C3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141414"/>
                </a:solidFill>
                <a:latin typeface="Cambria"/>
              </a:rPr>
              <a:t>31 alerts, 3 need action now</a:t>
            </a:r>
          </a:p>
        </p:txBody>
      </p:sp>
      <p:sp>
        <p:nvSpPr>
          <p:cNvPr id="3" name="Stat High"/>
          <p:cNvSpPr/>
          <p:nvPr/>
        </p:nvSpPr>
        <p:spPr>
          <a:xfrm>
            <a:off x="548640" y="1554480"/>
            <a:ext cx="2011680" cy="2103120"/>
          </a:xfrm>
          <a:prstGeom prst="roundRect">
            <a:avLst>
              <a:gd name="adj" fmla="val 8000"/>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igh value"/>
          <p:cNvSpPr txBox="1"/>
          <p:nvPr/>
        </p:nvSpPr>
        <p:spPr>
          <a:xfrm>
            <a:off x="822960" y="1737360"/>
            <a:ext cx="1463040" cy="1188720"/>
          </a:xfrm>
          <a:prstGeom prst="rect">
            <a:avLst/>
          </a:prstGeom>
          <a:noFill/>
        </p:spPr>
        <p:txBody>
          <a:bodyPr wrap="square" lIns="0" rIns="0" tIns="0" bIns="0" anchor="t">
            <a:spAutoFit/>
          </a:bodyPr>
          <a:lstStyle/>
          <a:p>
            <a:pPr algn="l">
              <a:spcAft>
                <a:spcPts val="600"/>
              </a:spcAft>
            </a:pPr>
            <a:r>
              <a:rPr sz="7200" b="1">
                <a:solidFill>
                  <a:srgbClr val="FFFFFF"/>
                </a:solidFill>
                <a:latin typeface="Calibri"/>
              </a:rPr>
              <a:t>3</a:t>
            </a:r>
          </a:p>
        </p:txBody>
      </p:sp>
      <p:sp>
        <p:nvSpPr>
          <p:cNvPr id="5" name="TextBox 4"/>
          <p:cNvSpPr txBox="1"/>
          <p:nvPr/>
        </p:nvSpPr>
        <p:spPr>
          <a:xfrm>
            <a:off x="822960" y="2971800"/>
            <a:ext cx="1645920" cy="457200"/>
          </a:xfrm>
          <a:prstGeom prst="rect">
            <a:avLst/>
          </a:prstGeom>
          <a:noFill/>
        </p:spPr>
        <p:txBody>
          <a:bodyPr wrap="square" lIns="0" rIns="0" tIns="0" bIns="0" anchor="t">
            <a:spAutoFit/>
          </a:bodyPr>
          <a:lstStyle/>
          <a:p>
            <a:pPr algn="l">
              <a:spcAft>
                <a:spcPts val="600"/>
              </a:spcAft>
            </a:pPr>
            <a:r>
              <a:rPr sz="2400" b="1">
                <a:solidFill>
                  <a:srgbClr val="FFFFFF"/>
                </a:solidFill>
                <a:latin typeface="Calibri"/>
              </a:rPr>
              <a:t>▲ High</a:t>
            </a:r>
          </a:p>
        </p:txBody>
      </p:sp>
      <p:sp>
        <p:nvSpPr>
          <p:cNvPr id="6" name="Stat Medium"/>
          <p:cNvSpPr/>
          <p:nvPr/>
        </p:nvSpPr>
        <p:spPr>
          <a:xfrm>
            <a:off x="2743200" y="1554480"/>
            <a:ext cx="2011680" cy="2103120"/>
          </a:xfrm>
          <a:prstGeom prst="roundRect">
            <a:avLst>
              <a:gd name="adj" fmla="val 8000"/>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edium value"/>
          <p:cNvSpPr txBox="1"/>
          <p:nvPr/>
        </p:nvSpPr>
        <p:spPr>
          <a:xfrm>
            <a:off x="3017520" y="1737360"/>
            <a:ext cx="1463040" cy="1188720"/>
          </a:xfrm>
          <a:prstGeom prst="rect">
            <a:avLst/>
          </a:prstGeom>
          <a:noFill/>
        </p:spPr>
        <p:txBody>
          <a:bodyPr wrap="square" lIns="0" rIns="0" tIns="0" bIns="0" anchor="t">
            <a:spAutoFit/>
          </a:bodyPr>
          <a:lstStyle/>
          <a:p>
            <a:pPr algn="l">
              <a:spcAft>
                <a:spcPts val="600"/>
              </a:spcAft>
            </a:pPr>
            <a:r>
              <a:rPr sz="7200" b="1">
                <a:solidFill>
                  <a:srgbClr val="141414"/>
                </a:solidFill>
                <a:latin typeface="Calibri"/>
              </a:rPr>
              <a:t>24</a:t>
            </a:r>
          </a:p>
        </p:txBody>
      </p:sp>
      <p:sp>
        <p:nvSpPr>
          <p:cNvPr id="8" name="TextBox 7"/>
          <p:cNvSpPr txBox="1"/>
          <p:nvPr/>
        </p:nvSpPr>
        <p:spPr>
          <a:xfrm>
            <a:off x="3017520" y="2971800"/>
            <a:ext cx="1645920" cy="457200"/>
          </a:xfrm>
          <a:prstGeom prst="rect">
            <a:avLst/>
          </a:prstGeom>
          <a:noFill/>
        </p:spPr>
        <p:txBody>
          <a:bodyPr wrap="square" lIns="0" rIns="0" tIns="0" bIns="0" anchor="t">
            <a:spAutoFit/>
          </a:bodyPr>
          <a:lstStyle/>
          <a:p>
            <a:pPr algn="l">
              <a:spcAft>
                <a:spcPts val="600"/>
              </a:spcAft>
            </a:pPr>
            <a:r>
              <a:rPr sz="2400" b="1">
                <a:solidFill>
                  <a:srgbClr val="141414"/>
                </a:solidFill>
                <a:latin typeface="Calibri"/>
              </a:rPr>
              <a:t>◆ Medium</a:t>
            </a:r>
          </a:p>
        </p:txBody>
      </p:sp>
      <p:sp>
        <p:nvSpPr>
          <p:cNvPr id="9" name="Stat Low"/>
          <p:cNvSpPr/>
          <p:nvPr/>
        </p:nvSpPr>
        <p:spPr>
          <a:xfrm>
            <a:off x="4937760" y="1554480"/>
            <a:ext cx="2011680" cy="2103120"/>
          </a:xfrm>
          <a:prstGeom prst="roundRect">
            <a:avLst>
              <a:gd name="adj" fmla="val 8000"/>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w value"/>
          <p:cNvSpPr txBox="1"/>
          <p:nvPr/>
        </p:nvSpPr>
        <p:spPr>
          <a:xfrm>
            <a:off x="5212080" y="1737360"/>
            <a:ext cx="1463040" cy="1188720"/>
          </a:xfrm>
          <a:prstGeom prst="rect">
            <a:avLst/>
          </a:prstGeom>
          <a:noFill/>
        </p:spPr>
        <p:txBody>
          <a:bodyPr wrap="square" lIns="0" rIns="0" tIns="0" bIns="0" anchor="t">
            <a:spAutoFit/>
          </a:bodyPr>
          <a:lstStyle/>
          <a:p>
            <a:pPr algn="l">
              <a:spcAft>
                <a:spcPts val="600"/>
              </a:spcAft>
            </a:pPr>
            <a:r>
              <a:rPr sz="7200" b="1">
                <a:solidFill>
                  <a:srgbClr val="141414"/>
                </a:solidFill>
                <a:latin typeface="Calibri"/>
              </a:rPr>
              <a:t>4</a:t>
            </a:r>
          </a:p>
        </p:txBody>
      </p:sp>
      <p:sp>
        <p:nvSpPr>
          <p:cNvPr id="11" name="TextBox 10"/>
          <p:cNvSpPr txBox="1"/>
          <p:nvPr/>
        </p:nvSpPr>
        <p:spPr>
          <a:xfrm>
            <a:off x="5212080" y="2971800"/>
            <a:ext cx="1645920" cy="457200"/>
          </a:xfrm>
          <a:prstGeom prst="rect">
            <a:avLst/>
          </a:prstGeom>
          <a:noFill/>
        </p:spPr>
        <p:txBody>
          <a:bodyPr wrap="square" lIns="0" rIns="0" tIns="0" bIns="0" anchor="t">
            <a:spAutoFit/>
          </a:bodyPr>
          <a:lstStyle/>
          <a:p>
            <a:pPr algn="l">
              <a:spcAft>
                <a:spcPts val="600"/>
              </a:spcAft>
            </a:pPr>
            <a:r>
              <a:rPr sz="2400" b="1">
                <a:solidFill>
                  <a:srgbClr val="141414"/>
                </a:solidFill>
                <a:latin typeface="Calibri"/>
              </a:rPr>
              <a:t>● Low</a:t>
            </a:r>
          </a:p>
        </p:txBody>
      </p:sp>
      <p:sp>
        <p:nvSpPr>
          <p:cNvPr id="12" name="TextBox 11"/>
          <p:cNvSpPr txBox="1"/>
          <p:nvPr/>
        </p:nvSpPr>
        <p:spPr>
          <a:xfrm>
            <a:off x="548640" y="3931920"/>
            <a:ext cx="6400800" cy="1463040"/>
          </a:xfrm>
          <a:prstGeom prst="rect">
            <a:avLst/>
          </a:prstGeom>
          <a:noFill/>
        </p:spPr>
        <p:txBody>
          <a:bodyPr wrap="square" lIns="0" rIns="0" tIns="0" bIns="0" anchor="t">
            <a:spAutoFit/>
          </a:bodyPr>
          <a:lstStyle/>
          <a:p>
            <a:pPr algn="l">
              <a:spcAft>
                <a:spcPts val="600"/>
              </a:spcAft>
            </a:pPr>
            <a:r>
              <a:rPr sz="2200" b="0">
                <a:solidFill>
                  <a:srgbClr val="3D3C39"/>
                </a:solidFill>
                <a:latin typeface="Calibri"/>
              </a:rPr>
              <a:t>6 crop alerts for the 2024 season: Kanye and Mabutsane Medium, the other four sites Low.</a:t>
            </a:r>
          </a:p>
        </p:txBody>
      </p:sp>
      <p:sp>
        <p:nvSpPr>
          <p:cNvPr id="13" name="Highlight stray"/>
          <p:cNvSpPr/>
          <p:nvPr/>
        </p:nvSpPr>
        <p:spPr>
          <a:xfrm>
            <a:off x="7315200" y="1554480"/>
            <a:ext cx="4327855" cy="1920240"/>
          </a:xfrm>
          <a:prstGeom prst="roundRect">
            <a:avLst>
              <a:gd name="adj" fmla="val 8000"/>
            </a:avLst>
          </a:prstGeom>
          <a:solidFill>
            <a:srgbClr val="E6F0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737360"/>
            <a:ext cx="3779215" cy="164592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Lost or stolen?</a:t>
            </a:r>
          </a:p>
          <a:p>
            <a:pPr algn="l">
              <a:spcAft>
                <a:spcPts val="600"/>
              </a:spcAft>
            </a:pPr>
            <a:r>
              <a:rPr sz="2200" b="0">
                <a:solidFill>
                  <a:srgbClr val="141414"/>
                </a:solidFill>
                <a:latin typeface="Calibri"/>
              </a:rPr>
              <a:t>Animal H3-05 moved away from its herd for 5 days and is now about 29 km from it.</a:t>
            </a:r>
          </a:p>
        </p:txBody>
      </p:sp>
      <p:sp>
        <p:nvSpPr>
          <p:cNvPr id="15" name="Highlight outbreak"/>
          <p:cNvSpPr/>
          <p:nvPr/>
        </p:nvSpPr>
        <p:spPr>
          <a:xfrm>
            <a:off x="7315200" y="3703320"/>
            <a:ext cx="4327855" cy="192024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3886200"/>
            <a:ext cx="3779215" cy="1645920"/>
          </a:xfrm>
          <a:prstGeom prst="rect">
            <a:avLst/>
          </a:prstGeom>
          <a:noFill/>
        </p:spPr>
        <p:txBody>
          <a:bodyPr wrap="square" lIns="0" rIns="0" tIns="0" bIns="0" anchor="t">
            <a:spAutoFit/>
          </a:bodyPr>
          <a:lstStyle/>
          <a:p>
            <a:pPr algn="l">
              <a:spcAft>
                <a:spcPts val="600"/>
              </a:spcAft>
            </a:pPr>
            <a:r>
              <a:rPr sz="2600" b="1">
                <a:solidFill>
                  <a:srgbClr val="141414"/>
                </a:solidFill>
                <a:latin typeface="Calibri"/>
              </a:rPr>
              <a:t>Outbreak rule: no warning</a:t>
            </a:r>
          </a:p>
          <a:p>
            <a:pPr algn="l">
              <a:spcAft>
                <a:spcPts val="600"/>
              </a:spcAft>
            </a:pPr>
            <a:r>
              <a:rPr sz="2200" b="0">
                <a:solidFill>
                  <a:srgbClr val="141414"/>
                </a:solidFill>
                <a:latin typeface="Calibri"/>
              </a:rPr>
              <a:t>Only 2 animals are flagged as possibly ill (H2-04, H2-07). The rule needs 3.</a:t>
            </a:r>
          </a:p>
        </p:txBody>
      </p:sp>
      <p:sp>
        <p:nvSpPr>
          <p:cNvPr id="17" name="TextBox 16"/>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3D3C39"/>
                </a:solidFill>
                <a:latin typeface="Calibri"/>
              </a:rPr>
              <a:t>AgriSense BW · Early-warning engine · demo with sample data</a:t>
            </a:r>
          </a:p>
        </p:txBody>
      </p:sp>
      <p:sp>
        <p:nvSpPr>
          <p:cNvPr id="18" name="TextBox 17"/>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3D3C3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141414"/>
                </a:solidFill>
                <a:latin typeface="Cambria"/>
              </a:rPr>
              <a:t>SQLite remembers what was done</a:t>
            </a:r>
          </a:p>
        </p:txBody>
      </p:sp>
      <p:sp>
        <p:nvSpPr>
          <p:cNvPr id="3" name="Table alerts"/>
          <p:cNvSpPr/>
          <p:nvPr/>
        </p:nvSpPr>
        <p:spPr>
          <a:xfrm>
            <a:off x="548640" y="1554480"/>
            <a:ext cx="3063240" cy="105156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91640"/>
            <a:ext cx="2606040" cy="77724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alerts</a:t>
            </a:r>
          </a:p>
          <a:p>
            <a:pPr algn="l">
              <a:spcAft>
                <a:spcPts val="600"/>
              </a:spcAft>
            </a:pPr>
            <a:r>
              <a:rPr sz="2200" b="0">
                <a:solidFill>
                  <a:srgbClr val="141414"/>
                </a:solidFill>
                <a:latin typeface="Calibri"/>
              </a:rPr>
              <a:t>31 rows</a:t>
            </a:r>
          </a:p>
        </p:txBody>
      </p:sp>
      <p:sp>
        <p:nvSpPr>
          <p:cNvPr id="5" name="Table alert_status"/>
          <p:cNvSpPr/>
          <p:nvPr/>
        </p:nvSpPr>
        <p:spPr>
          <a:xfrm>
            <a:off x="3886200" y="1554480"/>
            <a:ext cx="3063240" cy="1051560"/>
          </a:xfrm>
          <a:prstGeom prst="roundRect">
            <a:avLst>
              <a:gd name="adj" fmla="val 8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0" y="1691640"/>
            <a:ext cx="2606040" cy="777240"/>
          </a:xfrm>
          <a:prstGeom prst="rect">
            <a:avLst/>
          </a:prstGeom>
          <a:noFill/>
        </p:spPr>
        <p:txBody>
          <a:bodyPr wrap="square" lIns="0" rIns="0" tIns="0" bIns="0" anchor="ctr">
            <a:spAutoFit/>
          </a:bodyPr>
          <a:lstStyle/>
          <a:p>
            <a:pPr algn="l">
              <a:spcAft>
                <a:spcPts val="600"/>
              </a:spcAft>
            </a:pPr>
            <a:r>
              <a:rPr sz="2200" b="1">
                <a:solidFill>
                  <a:srgbClr val="FFFFFF"/>
                </a:solidFill>
                <a:latin typeface="Calibri"/>
              </a:rPr>
              <a:t>alert_status</a:t>
            </a:r>
          </a:p>
          <a:p>
            <a:pPr algn="l">
              <a:spcAft>
                <a:spcPts val="600"/>
              </a:spcAft>
            </a:pPr>
            <a:r>
              <a:rPr sz="2200" b="0">
                <a:solidFill>
                  <a:srgbClr val="FFFFFF"/>
                </a:solidFill>
                <a:latin typeface="Calibri"/>
              </a:rPr>
              <a:t>31 rows</a:t>
            </a:r>
          </a:p>
        </p:txBody>
      </p:sp>
      <p:sp>
        <p:nvSpPr>
          <p:cNvPr id="7" name="Table crop_data"/>
          <p:cNvSpPr/>
          <p:nvPr/>
        </p:nvSpPr>
        <p:spPr>
          <a:xfrm>
            <a:off x="548640" y="2880360"/>
            <a:ext cx="3063240" cy="105156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017520"/>
            <a:ext cx="2606040" cy="77724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crop_data</a:t>
            </a:r>
          </a:p>
          <a:p>
            <a:pPr algn="l">
              <a:spcAft>
                <a:spcPts val="600"/>
              </a:spcAft>
            </a:pPr>
            <a:r>
              <a:rPr sz="2200" b="0">
                <a:solidFill>
                  <a:srgbClr val="141414"/>
                </a:solidFill>
                <a:latin typeface="Calibri"/>
              </a:rPr>
              <a:t>144 rows</a:t>
            </a:r>
          </a:p>
        </p:txBody>
      </p:sp>
      <p:sp>
        <p:nvSpPr>
          <p:cNvPr id="9" name="Table livestock_data"/>
          <p:cNvSpPr/>
          <p:nvPr/>
        </p:nvSpPr>
        <p:spPr>
          <a:xfrm>
            <a:off x="3886200" y="2880360"/>
            <a:ext cx="3063240" cy="105156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3017520"/>
            <a:ext cx="2606040" cy="77724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livestock_data</a:t>
            </a:r>
          </a:p>
          <a:p>
            <a:pPr algn="l">
              <a:spcAft>
                <a:spcPts val="600"/>
              </a:spcAft>
            </a:pPr>
            <a:r>
              <a:rPr sz="2200" b="0">
                <a:solidFill>
                  <a:srgbClr val="141414"/>
                </a:solidFill>
                <a:latin typeface="Calibri"/>
              </a:rPr>
              <a:t>900 rows</a:t>
            </a:r>
          </a:p>
        </p:txBody>
      </p:sp>
      <p:sp>
        <p:nvSpPr>
          <p:cNvPr id="11" name="Table reference_yields"/>
          <p:cNvSpPr/>
          <p:nvPr/>
        </p:nvSpPr>
        <p:spPr>
          <a:xfrm>
            <a:off x="548640" y="4206240"/>
            <a:ext cx="3063240" cy="105156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343400"/>
            <a:ext cx="2606040" cy="77724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reference_yields</a:t>
            </a:r>
          </a:p>
          <a:p>
            <a:pPr algn="l">
              <a:spcAft>
                <a:spcPts val="600"/>
              </a:spcAft>
            </a:pPr>
            <a:r>
              <a:rPr sz="2200" b="0">
                <a:solidFill>
                  <a:srgbClr val="141414"/>
                </a:solidFill>
                <a:latin typeface="Calibri"/>
              </a:rPr>
              <a:t>35 rows</a:t>
            </a:r>
          </a:p>
        </p:txBody>
      </p:sp>
      <p:sp>
        <p:nvSpPr>
          <p:cNvPr id="13" name="Table advice_templates"/>
          <p:cNvSpPr/>
          <p:nvPr/>
        </p:nvSpPr>
        <p:spPr>
          <a:xfrm>
            <a:off x="3886200" y="4206240"/>
            <a:ext cx="3063240" cy="1051560"/>
          </a:xfrm>
          <a:prstGeom prst="roundRect">
            <a:avLst>
              <a:gd name="adj" fmla="val 8000"/>
            </a:avLst>
          </a:prstGeom>
          <a:solidFill>
            <a:srgbClr val="F0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4343400"/>
            <a:ext cx="2606040" cy="777240"/>
          </a:xfrm>
          <a:prstGeom prst="rect">
            <a:avLst/>
          </a:prstGeom>
          <a:noFill/>
        </p:spPr>
        <p:txBody>
          <a:bodyPr wrap="square" lIns="0" rIns="0" tIns="0" bIns="0" anchor="ctr">
            <a:spAutoFit/>
          </a:bodyPr>
          <a:lstStyle/>
          <a:p>
            <a:pPr algn="l">
              <a:spcAft>
                <a:spcPts val="600"/>
              </a:spcAft>
            </a:pPr>
            <a:r>
              <a:rPr sz="2200" b="1">
                <a:solidFill>
                  <a:srgbClr val="141414"/>
                </a:solidFill>
                <a:latin typeface="Calibri"/>
              </a:rPr>
              <a:t>advice_templates</a:t>
            </a:r>
          </a:p>
          <a:p>
            <a:pPr algn="l">
              <a:spcAft>
                <a:spcPts val="600"/>
              </a:spcAft>
            </a:pPr>
            <a:r>
              <a:rPr sz="2200" b="0">
                <a:solidFill>
                  <a:srgbClr val="141414"/>
                </a:solidFill>
                <a:latin typeface="Calibri"/>
              </a:rPr>
              <a:t>9 rows</a:t>
            </a:r>
          </a:p>
        </p:txBody>
      </p:sp>
      <p:sp>
        <p:nvSpPr>
          <p:cNvPr id="15" name="Oval 14"/>
          <p:cNvSpPr/>
          <p:nvPr/>
        </p:nvSpPr>
        <p:spPr>
          <a:xfrm>
            <a:off x="7498080" y="155448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1</a:t>
            </a:r>
          </a:p>
        </p:txBody>
      </p:sp>
      <p:sp>
        <p:nvSpPr>
          <p:cNvPr id="16" name="TextBox 15"/>
          <p:cNvSpPr txBox="1"/>
          <p:nvPr/>
        </p:nvSpPr>
        <p:spPr>
          <a:xfrm>
            <a:off x="8321040" y="1554480"/>
            <a:ext cx="3322015" cy="1234440"/>
          </a:xfrm>
          <a:prstGeom prst="rect">
            <a:avLst/>
          </a:prstGeom>
          <a:noFill/>
        </p:spPr>
        <p:txBody>
          <a:bodyPr wrap="square" lIns="0" rIns="0" tIns="0" bIns="0" anchor="t">
            <a:spAutoFit/>
          </a:bodyPr>
          <a:lstStyle/>
          <a:p>
            <a:pPr algn="l">
              <a:spcAft>
                <a:spcPts val="600"/>
              </a:spcAft>
            </a:pPr>
            <a:r>
              <a:rPr sz="2400" b="1">
                <a:solidFill>
                  <a:srgbClr val="141414"/>
                </a:solidFill>
                <a:latin typeface="Calibri"/>
              </a:rPr>
              <a:t>Built from the CSVs</a:t>
            </a:r>
          </a:p>
          <a:p>
            <a:pPr algn="l">
              <a:spcAft>
                <a:spcPts val="600"/>
              </a:spcAft>
            </a:pPr>
            <a:r>
              <a:rPr sz="2200" b="0">
                <a:solidFill>
                  <a:srgbClr val="141414"/>
                </a:solidFill>
                <a:latin typeface="Calibri"/>
              </a:rPr>
              <a:t>One script, one transaction.</a:t>
            </a:r>
          </a:p>
        </p:txBody>
      </p:sp>
      <p:sp>
        <p:nvSpPr>
          <p:cNvPr id="17" name="Oval 16"/>
          <p:cNvSpPr/>
          <p:nvPr/>
        </p:nvSpPr>
        <p:spPr>
          <a:xfrm>
            <a:off x="7498080" y="301752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2</a:t>
            </a:r>
          </a:p>
        </p:txBody>
      </p:sp>
      <p:sp>
        <p:nvSpPr>
          <p:cNvPr id="18" name="TextBox 17"/>
          <p:cNvSpPr txBox="1"/>
          <p:nvPr/>
        </p:nvSpPr>
        <p:spPr>
          <a:xfrm>
            <a:off x="8321040" y="3017520"/>
            <a:ext cx="3322015" cy="1234440"/>
          </a:xfrm>
          <a:prstGeom prst="rect">
            <a:avLst/>
          </a:prstGeom>
          <a:noFill/>
        </p:spPr>
        <p:txBody>
          <a:bodyPr wrap="square" lIns="0" rIns="0" tIns="0" bIns="0" anchor="t">
            <a:spAutoFit/>
          </a:bodyPr>
          <a:lstStyle/>
          <a:p>
            <a:pPr algn="l">
              <a:spcAft>
                <a:spcPts val="600"/>
              </a:spcAft>
            </a:pPr>
            <a:r>
              <a:rPr sz="2400" b="1">
                <a:solidFill>
                  <a:srgbClr val="141414"/>
                </a:solidFill>
                <a:latin typeface="Calibri"/>
              </a:rPr>
              <a:t>Status survives</a:t>
            </a:r>
          </a:p>
          <a:p>
            <a:pPr algn="l">
              <a:spcAft>
                <a:spcPts val="600"/>
              </a:spcAft>
            </a:pPr>
            <a:r>
              <a:rPr sz="2200" b="0">
                <a:solidFill>
                  <a:srgbClr val="141414"/>
                </a:solidFill>
                <a:latin typeface="Calibri"/>
              </a:rPr>
              <a:t>Kept when the alerts are rebuilt.</a:t>
            </a:r>
          </a:p>
        </p:txBody>
      </p:sp>
      <p:sp>
        <p:nvSpPr>
          <p:cNvPr id="19" name="Oval 18"/>
          <p:cNvSpPr/>
          <p:nvPr/>
        </p:nvSpPr>
        <p:spPr>
          <a:xfrm>
            <a:off x="7498080" y="4480560"/>
            <a:ext cx="640080" cy="64008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3</a:t>
            </a:r>
          </a:p>
        </p:txBody>
      </p:sp>
      <p:sp>
        <p:nvSpPr>
          <p:cNvPr id="20" name="TextBox 19"/>
          <p:cNvSpPr txBox="1"/>
          <p:nvPr/>
        </p:nvSpPr>
        <p:spPr>
          <a:xfrm>
            <a:off x="8321040" y="4480560"/>
            <a:ext cx="3322015" cy="1234440"/>
          </a:xfrm>
          <a:prstGeom prst="rect">
            <a:avLst/>
          </a:prstGeom>
          <a:noFill/>
        </p:spPr>
        <p:txBody>
          <a:bodyPr wrap="square" lIns="0" rIns="0" tIns="0" bIns="0" anchor="t">
            <a:spAutoFit/>
          </a:bodyPr>
          <a:lstStyle/>
          <a:p>
            <a:pPr algn="l">
              <a:spcAft>
                <a:spcPts val="600"/>
              </a:spcAft>
            </a:pPr>
            <a:r>
              <a:rPr sz="2400" b="1">
                <a:solidFill>
                  <a:srgbClr val="141414"/>
                </a:solidFill>
                <a:latin typeface="Calibri"/>
              </a:rPr>
              <a:t>Next</a:t>
            </a:r>
          </a:p>
          <a:p>
            <a:pPr algn="l">
              <a:spcAft>
                <a:spcPts val="600"/>
              </a:spcAft>
            </a:pPr>
            <a:r>
              <a:rPr sz="2200" b="0">
                <a:solidFill>
                  <a:srgbClr val="141414"/>
                </a:solidFill>
                <a:latin typeface="Calibri"/>
              </a:rPr>
              <a:t>PostgreSQL and user accounts.</a:t>
            </a:r>
          </a:p>
        </p:txBody>
      </p:sp>
      <p:sp>
        <p:nvSpPr>
          <p:cNvPr id="21" name="TextBox 20"/>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3D3C39"/>
                </a:solidFill>
                <a:latin typeface="Calibri"/>
              </a:rPr>
              <a:t>AgriSense BW · Early-warning engine · demo with sample data</a:t>
            </a:r>
          </a:p>
        </p:txBody>
      </p:sp>
      <p:sp>
        <p:nvSpPr>
          <p:cNvPr id="22" name="TextBox 21"/>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3D3C3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141414"/>
                </a:solidFill>
                <a:latin typeface="Cambria"/>
              </a:rPr>
              <a:t>One dashboard: alerts, map and charts</a:t>
            </a:r>
          </a:p>
        </p:txBody>
      </p:sp>
      <p:pic>
        <p:nvPicPr>
          <p:cNvPr id="3" name="Dashboard screenshot" descr="dashboard_livestock.png"/>
          <p:cNvPicPr>
            <a:picLocks noChangeAspect="1"/>
          </p:cNvPicPr>
          <p:nvPr/>
        </p:nvPicPr>
        <p:blipFill>
          <a:blip r:embed="rId2"/>
          <a:srcRect t="22000"/>
          <a:stretch>
            <a:fillRect/>
          </a:stretch>
        </p:blipFill>
        <p:spPr>
          <a:xfrm>
            <a:off x="548640" y="1463040"/>
            <a:ext cx="7315200" cy="3209544"/>
          </a:xfrm>
          <a:prstGeom prst="rect">
            <a:avLst/>
          </a:prstGeom>
          <a:ln w="12700">
            <a:solidFill>
              <a:srgbClr val="C3C2B7"/>
            </a:solidFill>
          </a:ln>
        </p:spPr>
      </p:pic>
      <p:sp>
        <p:nvSpPr>
          <p:cNvPr id="4" name="TextBox 3"/>
          <p:cNvSpPr txBox="1"/>
          <p:nvPr/>
        </p:nvSpPr>
        <p:spPr>
          <a:xfrm>
            <a:off x="548640" y="4983480"/>
            <a:ext cx="7315200" cy="822960"/>
          </a:xfrm>
          <a:prstGeom prst="rect">
            <a:avLst/>
          </a:prstGeom>
          <a:noFill/>
        </p:spPr>
        <p:txBody>
          <a:bodyPr wrap="square" lIns="0" rIns="0" tIns="0" bIns="0" anchor="t">
            <a:spAutoFit/>
          </a:bodyPr>
          <a:lstStyle/>
          <a:p>
            <a:pPr algn="l">
              <a:spcAft>
                <a:spcPts val="200"/>
              </a:spcAft>
            </a:pPr>
            <a:r>
              <a:rPr sz="2000" b="1">
                <a:solidFill>
                  <a:srgbClr val="3D3C39"/>
                </a:solidFill>
                <a:latin typeface="Calibri"/>
              </a:rPr>
              <a:t>Run it: </a:t>
            </a:r>
            <a:r>
              <a:rPr sz="2000" b="0">
                <a:solidFill>
                  <a:srgbClr val="3D3C39"/>
                </a:solidFill>
                <a:latin typeface="Courier New"/>
              </a:rPr>
              <a:t>uvicorn dashboard.main:app</a:t>
            </a:r>
          </a:p>
          <a:p>
            <a:pPr algn="l">
              <a:spcAft>
                <a:spcPts val="200"/>
              </a:spcAft>
            </a:pPr>
            <a:r>
              <a:rPr sz="2000" b="0">
                <a:solidFill>
                  <a:srgbClr val="3D3C39"/>
                </a:solidFill>
                <a:latin typeface="Calibri"/>
              </a:rPr>
              <a:t>then open 127.0.0.1:8000 in the browser</a:t>
            </a:r>
          </a:p>
        </p:txBody>
      </p:sp>
      <p:sp>
        <p:nvSpPr>
          <p:cNvPr id="5" name="TextBox 4"/>
          <p:cNvSpPr txBox="1"/>
          <p:nvPr/>
        </p:nvSpPr>
        <p:spPr>
          <a:xfrm>
            <a:off x="8229600" y="1463040"/>
            <a:ext cx="3413455" cy="4389120"/>
          </a:xfrm>
          <a:prstGeom prst="rect">
            <a:avLst/>
          </a:prstGeom>
          <a:noFill/>
        </p:spPr>
        <p:txBody>
          <a:bodyPr wrap="square" lIns="0" rIns="0" tIns="0" bIns="0" anchor="t">
            <a:spAutoFit/>
          </a:bodyPr>
          <a:lstStyle/>
          <a:p>
            <a:pPr algn="l">
              <a:spcAft>
                <a:spcPts val="400"/>
              </a:spcAft>
            </a:pPr>
            <a:r>
              <a:rPr sz="2200" b="1">
                <a:solidFill>
                  <a:srgbClr val="141414"/>
                </a:solidFill>
                <a:latin typeface="Calibri"/>
              </a:rPr>
              <a:t>Alerts</a:t>
            </a:r>
          </a:p>
          <a:p>
            <a:pPr algn="l">
              <a:spcAft>
                <a:spcPts val="400"/>
              </a:spcAft>
            </a:pPr>
            <a:r>
              <a:rPr sz="2200" b="0">
                <a:solidFill>
                  <a:srgbClr val="141414"/>
                </a:solidFill>
                <a:latin typeface="Calibri"/>
              </a:rPr>
              <a:t>filter, set status, English or Setswana</a:t>
            </a:r>
          </a:p>
          <a:p>
            <a:pPr algn="l">
              <a:spcAft>
                <a:spcPts val="400"/>
              </a:spcAft>
            </a:pPr>
            <a:r>
              <a:rPr sz="2200" b="1">
                <a:solidFill>
                  <a:srgbClr val="141414"/>
                </a:solidFill>
                <a:latin typeface="Calibri"/>
              </a:rPr>
              <a:t>Livestock</a:t>
            </a:r>
          </a:p>
          <a:p>
            <a:pPr algn="l">
              <a:spcAft>
                <a:spcPts val="400"/>
              </a:spcAft>
            </a:pPr>
            <a:r>
              <a:rPr sz="2200" b="0">
                <a:solidFill>
                  <a:srgbClr val="141414"/>
                </a:solidFill>
                <a:latin typeface="Calibri"/>
              </a:rPr>
              <a:t>map, flagged animals in red, temperature chart</a:t>
            </a:r>
          </a:p>
          <a:p>
            <a:pPr algn="l">
              <a:spcAft>
                <a:spcPts val="400"/>
              </a:spcAft>
            </a:pPr>
            <a:r>
              <a:rPr sz="2200" b="1">
                <a:solidFill>
                  <a:srgbClr val="141414"/>
                </a:solidFill>
                <a:latin typeface="Calibri"/>
              </a:rPr>
              <a:t>Crops</a:t>
            </a:r>
          </a:p>
          <a:p>
            <a:pPr algn="l">
              <a:spcAft>
                <a:spcPts val="400"/>
              </a:spcAft>
            </a:pPr>
            <a:r>
              <a:rPr sz="2200" b="0">
                <a:solidFill>
                  <a:srgbClr val="141414"/>
                </a:solidFill>
                <a:latin typeface="Calibri"/>
              </a:rPr>
              <a:t>yield 2001–2024 and the 2024 forecast</a:t>
            </a:r>
          </a:p>
          <a:p>
            <a:pPr algn="l">
              <a:spcAft>
                <a:spcPts val="400"/>
              </a:spcAft>
            </a:pPr>
            <a:r>
              <a:rPr sz="2200" b="1">
                <a:solidFill>
                  <a:srgbClr val="141414"/>
                </a:solidFill>
                <a:latin typeface="Calibri"/>
              </a:rPr>
              <a:t>Built with</a:t>
            </a:r>
          </a:p>
          <a:p>
            <a:pPr algn="l">
              <a:spcAft>
                <a:spcPts val="400"/>
              </a:spcAft>
            </a:pPr>
            <a:r>
              <a:rPr sz="2200" b="0">
                <a:solidFill>
                  <a:srgbClr val="141414"/>
                </a:solidFill>
                <a:latin typeface="Calibri"/>
              </a:rPr>
              <a:t>FastAPI, Leaflet, Chart.js; API docs at /docs</a:t>
            </a:r>
          </a:p>
        </p:txBody>
      </p:sp>
      <p:sp>
        <p:nvSpPr>
          <p:cNvPr id="6" name="TextBox 5"/>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3D3C39"/>
                </a:solidFill>
                <a:latin typeface="Calibri"/>
              </a:rPr>
              <a:t>AgriSense BW · Early-warning engine · demo with sample data</a:t>
            </a:r>
          </a:p>
        </p:txBody>
      </p:sp>
      <p:sp>
        <p:nvSpPr>
          <p:cNvPr id="7" name="TextBox 6"/>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3D3C3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t">
            <a:spAutoFit/>
          </a:bodyPr>
          <a:lstStyle/>
          <a:p>
            <a:pPr algn="l">
              <a:spcAft>
                <a:spcPts val="600"/>
              </a:spcAft>
            </a:pPr>
            <a:r>
              <a:rPr sz="4000" b="1">
                <a:solidFill>
                  <a:srgbClr val="FFFFFF"/>
                </a:solidFill>
                <a:latin typeface="Cambria"/>
              </a:rPr>
              <a:t>What it can't do yet, and what comes next</a:t>
            </a:r>
          </a:p>
        </p:txBody>
      </p:sp>
      <p:sp>
        <p:nvSpPr>
          <p:cNvPr id="3" name="TextBox 2"/>
          <p:cNvSpPr txBox="1"/>
          <p:nvPr/>
        </p:nvSpPr>
        <p:spPr>
          <a:xfrm>
            <a:off x="548640" y="1508760"/>
            <a:ext cx="5318607" cy="548640"/>
          </a:xfrm>
          <a:prstGeom prst="rect">
            <a:avLst/>
          </a:prstGeom>
          <a:noFill/>
        </p:spPr>
        <p:txBody>
          <a:bodyPr wrap="square" lIns="0" rIns="0" tIns="0" bIns="0" anchor="t">
            <a:spAutoFit/>
          </a:bodyPr>
          <a:lstStyle/>
          <a:p>
            <a:pPr algn="l">
              <a:spcAft>
                <a:spcPts val="600"/>
              </a:spcAft>
            </a:pPr>
            <a:r>
              <a:rPr sz="2800" b="1">
                <a:solidFill>
                  <a:srgbClr val="FFFFFF"/>
                </a:solidFill>
                <a:latin typeface="Calibri"/>
              </a:rPr>
              <a:t>Limitations</a:t>
            </a:r>
          </a:p>
        </p:txBody>
      </p:sp>
      <p:sp>
        <p:nvSpPr>
          <p:cNvPr id="4" name="TextBox 3"/>
          <p:cNvSpPr txBox="1"/>
          <p:nvPr/>
        </p:nvSpPr>
        <p:spPr>
          <a:xfrm>
            <a:off x="548640" y="2194560"/>
            <a:ext cx="5318607" cy="3657600"/>
          </a:xfrm>
          <a:prstGeom prst="rect">
            <a:avLst/>
          </a:prstGeom>
          <a:noFill/>
        </p:spPr>
        <p:txBody>
          <a:bodyPr wrap="square" lIns="0" rIns="0" tIns="0" bIns="0" anchor="t">
            <a:spAutoFit/>
          </a:bodyPr>
          <a:lstStyle/>
          <a:p>
            <a:pPr algn="l" marL="320040" indent="-320040">
              <a:spcAft>
                <a:spcPts val="1200"/>
              </a:spcAft>
              <a:buChar char="•"/>
            </a:pPr>
            <a:r>
              <a:rPr sz="2200" b="0">
                <a:solidFill>
                  <a:srgbClr val="FFFFFF"/>
                </a:solidFill>
                <a:latin typeface="Calibri"/>
              </a:rPr>
              <a:t>The outbreak rule depends on the livestock model, which missed sick animal H2-09.</a:t>
            </a:r>
          </a:p>
          <a:p>
            <a:pPr algn="l" marL="320040" indent="-320040">
              <a:spcAft>
                <a:spcPts val="1200"/>
              </a:spcAft>
              <a:buChar char="•"/>
            </a:pPr>
            <a:r>
              <a:rPr sz="2200" b="0">
                <a:solidFill>
                  <a:srgbClr val="FFFFFF"/>
                </a:solidFill>
                <a:latin typeface="Calibri"/>
              </a:rPr>
              <a:t>One GPS fix per day: movement at night can't be seen.</a:t>
            </a:r>
          </a:p>
          <a:p>
            <a:pPr algn="l" marL="320040" indent="-320040">
              <a:spcAft>
                <a:spcPts val="1200"/>
              </a:spcAft>
              <a:buChar char="•"/>
            </a:pPr>
            <a:r>
              <a:rPr sz="2200" b="0">
                <a:solidFill>
                  <a:srgbClr val="FFFFFF"/>
                </a:solidFill>
                <a:latin typeface="Calibri"/>
              </a:rPr>
              <a:t>All crop and livestock data is sample data.</a:t>
            </a:r>
          </a:p>
          <a:p>
            <a:pPr algn="l" marL="320040" indent="-320040">
              <a:spcAft>
                <a:spcPts val="1200"/>
              </a:spcAft>
              <a:buChar char="•"/>
            </a:pPr>
            <a:r>
              <a:rPr sz="2200" b="0">
                <a:solidFill>
                  <a:srgbClr val="FFFFFF"/>
                </a:solidFill>
                <a:latin typeface="Calibri"/>
              </a:rPr>
              <a:t>6 advice texts still need Setswana.</a:t>
            </a:r>
          </a:p>
        </p:txBody>
      </p:sp>
      <p:sp>
        <p:nvSpPr>
          <p:cNvPr id="5" name="TextBox 4"/>
          <p:cNvSpPr txBox="1"/>
          <p:nvPr/>
        </p:nvSpPr>
        <p:spPr>
          <a:xfrm>
            <a:off x="6324447" y="1508760"/>
            <a:ext cx="5318607" cy="548640"/>
          </a:xfrm>
          <a:prstGeom prst="rect">
            <a:avLst/>
          </a:prstGeom>
          <a:noFill/>
        </p:spPr>
        <p:txBody>
          <a:bodyPr wrap="square" lIns="0" rIns="0" tIns="0" bIns="0" anchor="t">
            <a:spAutoFit/>
          </a:bodyPr>
          <a:lstStyle/>
          <a:p>
            <a:pPr algn="l">
              <a:spcAft>
                <a:spcPts val="600"/>
              </a:spcAft>
            </a:pPr>
            <a:r>
              <a:rPr sz="2800" b="1">
                <a:solidFill>
                  <a:srgbClr val="6DA9D6"/>
                </a:solidFill>
                <a:latin typeface="Calibri"/>
              </a:rPr>
              <a:t>Next steps</a:t>
            </a:r>
          </a:p>
        </p:txBody>
      </p:sp>
      <p:sp>
        <p:nvSpPr>
          <p:cNvPr id="6" name="TextBox 5"/>
          <p:cNvSpPr txBox="1"/>
          <p:nvPr/>
        </p:nvSpPr>
        <p:spPr>
          <a:xfrm>
            <a:off x="6324447" y="2194560"/>
            <a:ext cx="5318607" cy="3657600"/>
          </a:xfrm>
          <a:prstGeom prst="rect">
            <a:avLst/>
          </a:prstGeom>
          <a:noFill/>
        </p:spPr>
        <p:txBody>
          <a:bodyPr wrap="square" lIns="0" rIns="0" tIns="0" bIns="0" anchor="t">
            <a:spAutoFit/>
          </a:bodyPr>
          <a:lstStyle/>
          <a:p>
            <a:pPr algn="l" marL="320040" indent="-320040">
              <a:spcAft>
                <a:spcPts val="1200"/>
              </a:spcAft>
              <a:buChar char="•"/>
            </a:pPr>
            <a:r>
              <a:rPr sz="2200" b="0">
                <a:solidFill>
                  <a:srgbClr val="FFFFFF"/>
                </a:solidFill>
                <a:latin typeface="Calibri"/>
              </a:rPr>
              <a:t>Compare each animal with its own normal, and add a fever rule.</a:t>
            </a:r>
          </a:p>
          <a:p>
            <a:pPr algn="l" marL="320040" indent="-320040">
              <a:spcAft>
                <a:spcPts val="1200"/>
              </a:spcAft>
              <a:buChar char="•"/>
            </a:pPr>
            <a:r>
              <a:rPr sz="2200" b="0">
                <a:solidFill>
                  <a:srgbClr val="FFFFFF"/>
                </a:solidFill>
                <a:latin typeface="Calibri"/>
              </a:rPr>
              <a:t>Several GPS fixes per day.</a:t>
            </a:r>
          </a:p>
          <a:p>
            <a:pPr algn="l" marL="320040" indent="-320040">
              <a:spcAft>
                <a:spcPts val="1200"/>
              </a:spcAft>
              <a:buChar char="•"/>
            </a:pPr>
            <a:r>
              <a:rPr sz="2200" b="0">
                <a:solidFill>
                  <a:srgbClr val="FFFFFF"/>
                </a:solidFill>
                <a:latin typeface="Calibri"/>
              </a:rPr>
              <a:t>Real weather and NDVI data (NASA POWER, CHIRPS).</a:t>
            </a:r>
          </a:p>
          <a:p>
            <a:pPr algn="l" marL="320040" indent="-320040">
              <a:spcAft>
                <a:spcPts val="1200"/>
              </a:spcAft>
              <a:buChar char="•"/>
            </a:pPr>
            <a:r>
              <a:rPr sz="2200" b="0">
                <a:solidFill>
                  <a:srgbClr val="FFFFFF"/>
                </a:solidFill>
                <a:latin typeface="Calibri"/>
              </a:rPr>
              <a:t>PostgreSQL and accounts for farmers and vets.</a:t>
            </a:r>
          </a:p>
        </p:txBody>
      </p:sp>
      <p:sp>
        <p:nvSpPr>
          <p:cNvPr id="7" name="TextBox 6"/>
          <p:cNvSpPr txBox="1"/>
          <p:nvPr/>
        </p:nvSpPr>
        <p:spPr>
          <a:xfrm>
            <a:off x="548640" y="6400800"/>
            <a:ext cx="7315200" cy="274320"/>
          </a:xfrm>
          <a:prstGeom prst="rect">
            <a:avLst/>
          </a:prstGeom>
          <a:noFill/>
        </p:spPr>
        <p:txBody>
          <a:bodyPr wrap="square" lIns="0" rIns="0" tIns="0" bIns="0" anchor="t">
            <a:spAutoFit/>
          </a:bodyPr>
          <a:lstStyle/>
          <a:p>
            <a:pPr algn="l">
              <a:spcAft>
                <a:spcPts val="600"/>
              </a:spcAft>
            </a:pPr>
            <a:r>
              <a:rPr sz="1400" b="0">
                <a:solidFill>
                  <a:srgbClr val="6DA9D6"/>
                </a:solidFill>
                <a:latin typeface="Calibri"/>
              </a:rPr>
              <a:t>AgriSense BW · Early-warning engine · demo with sample data</a:t>
            </a:r>
          </a:p>
        </p:txBody>
      </p:sp>
      <p:sp>
        <p:nvSpPr>
          <p:cNvPr id="8" name="TextBox 7"/>
          <p:cNvSpPr txBox="1"/>
          <p:nvPr/>
        </p:nvSpPr>
        <p:spPr>
          <a:xfrm>
            <a:off x="10728655" y="6400800"/>
            <a:ext cx="914400" cy="274320"/>
          </a:xfrm>
          <a:prstGeom prst="rect">
            <a:avLst/>
          </a:prstGeom>
          <a:noFill/>
        </p:spPr>
        <p:txBody>
          <a:bodyPr wrap="square" lIns="0" rIns="0" tIns="0" bIns="0" anchor="t">
            <a:spAutoFit/>
          </a:bodyPr>
          <a:lstStyle/>
          <a:p>
            <a:pPr algn="r">
              <a:spcAft>
                <a:spcPts val="600"/>
              </a:spcAft>
            </a:pPr>
            <a:r>
              <a:rPr sz="1400" b="0">
                <a:solidFill>
                  <a:srgbClr val="6DA9D6"/>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AgriSense BW: early-warning engine, database and dashboard</dc:title>
  <dc:subject/>
  <dc:creator>Philipp Schöneberg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