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956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Hi, we are the Data Science Club of Botho University. This is AgriSense BW: early warnings for crops and livestock in Botswana.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Farmers often find out too late: a poor harvest shows only at the end of the season, a sick animal can infect the herd, and a lost cow can be far away before anyone notices. We want to raise the alarm while there is still time to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AgriSense BW has two modules: the crop module forecasts the harvest from rain, temperature and plant greenness, and the livestock module spots animals that behave unusually. Our early-warning engine turns both into one list of clear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a real alert from our prototype: animal H3-05 has left its herd for five days and is now about 29 kilometres away, so it may be lost or stolen. Every alert gives a risk level, a plain reason and a concrete next step, also in Setswana.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comes together in one web dashboard: a map of every animal coloured by risk, here with the straying animal's path, an alert list sorted by urgency, and the crop forecasts. You can try it on 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also built a first hardware prototype from our own parts: a collar with an infrared thermometer and a gateway with a rain sensor, which send live data to the dashboard. For real herds it still needs GPS, long-range radio and solar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prototype covers the Southern district: six crop sites, two at risk, and 30 animals tracked for a month, with three high-risk animals found. We built it in three days with simulated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Next, we want real farms and real data: GPS collars on a pilot farm, live weather and satellite data, and later leaf-photo disease detection. For that we are looking for partners. Come and talk to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griSense BW mark: a sorghum head sending out warning waves" descr="AgriSense BW mark: a sorghum head sending out warning wa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051560"/>
            <a:ext cx="3931920" cy="393192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965960"/>
            <a:ext cx="7315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3F6F8"/>
                </a:solidFill>
                <a:latin typeface="Calibri"/>
              </a:rPr>
              <a:t>AgriSense </a:t>
            </a:r>
            <a:r>
              <a:rPr sz="7200" b="0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AEB9C3"/>
                </a:solidFill>
                <a:latin typeface="Calibri"/>
              </a:rPr>
              <a:t>Early warnings for crops and livestock in Botswana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Data Science Club  ·  Botho University, Gaborone</a:t>
            </a:r>
          </a:p>
        </p:txBody>
      </p:sp>
    </p:spTree>
  </p:cSld>
  <p:clrMapOvr>
    <a:masterClrMapping/>
  </p:clrMapOvr>
  <p:transition spd="med" advTm="8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Farmers often find out too late</a:t>
            </a:r>
          </a:p>
        </p:txBody>
      </p:sp>
      <p:sp>
        <p:nvSpPr>
          <p:cNvPr id="3" name="Problem 1"/>
          <p:cNvSpPr/>
          <p:nvPr/>
        </p:nvSpPr>
        <p:spPr>
          <a:xfrm>
            <a:off x="640080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ry seasons badge"/>
          <p:cNvSpPr/>
          <p:nvPr/>
        </p:nvSpPr>
        <p:spPr>
          <a:xfrm>
            <a:off x="1005840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Dry seasons" descr="Dry seas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011680"/>
            <a:ext cx="1143000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Dry seasons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A poor harvest often shows only at the end of the season.</a:t>
            </a:r>
          </a:p>
        </p:txBody>
      </p:sp>
      <p:sp>
        <p:nvSpPr>
          <p:cNvPr id="8" name="Problem 2"/>
          <p:cNvSpPr/>
          <p:nvPr/>
        </p:nvSpPr>
        <p:spPr>
          <a:xfrm>
            <a:off x="4453128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ick animals badge"/>
          <p:cNvSpPr/>
          <p:nvPr/>
        </p:nvSpPr>
        <p:spPr>
          <a:xfrm>
            <a:off x="4818888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Sick animals" descr="Sick anima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011680"/>
            <a:ext cx="11430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Sick animals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Illness can spread through a herd before anyone notices.</a:t>
            </a:r>
          </a:p>
        </p:txBody>
      </p:sp>
      <p:sp>
        <p:nvSpPr>
          <p:cNvPr id="13" name="Problem 3"/>
          <p:cNvSpPr/>
          <p:nvPr/>
        </p:nvSpPr>
        <p:spPr>
          <a:xfrm>
            <a:off x="8266176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ost or stolen cattle badge"/>
          <p:cNvSpPr/>
          <p:nvPr/>
        </p:nvSpPr>
        <p:spPr>
          <a:xfrm>
            <a:off x="8631936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Lost or stolen cattle" descr="Lost or stolen catt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36" y="201168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1936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Lost or stolen cattle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An animal can be kilometres away before it is missed.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AgriSense BW raises the alarm </a:t>
            </a:r>
            <a:r>
              <a:rPr sz="2600" b="0">
                <a:solidFill>
                  <a:srgbClr val="1D2B36"/>
                </a:solidFill>
                <a:latin typeface="Calibri"/>
              </a:rPr>
              <a:t>while there is still time to act.</a:t>
            </a:r>
          </a:p>
        </p:txBody>
      </p:sp>
      <p:pic>
        <p:nvPicPr>
          <p:cNvPr id="19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 advTm="16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Two monitoring modules, one early-warning engine</a:t>
            </a:r>
          </a:p>
        </p:txBody>
      </p:sp>
      <p:sp>
        <p:nvSpPr>
          <p:cNvPr id="3" name="Crop module"/>
          <p:cNvSpPr/>
          <p:nvPr/>
        </p:nvSpPr>
        <p:spPr>
          <a:xfrm>
            <a:off x="640080" y="1600200"/>
            <a:ext cx="3931920" cy="17830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rop module badge"/>
          <p:cNvSpPr/>
          <p:nvPr/>
        </p:nvSpPr>
        <p:spPr>
          <a:xfrm>
            <a:off x="914400" y="187452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rop module" descr="Crop modu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2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11680" y="185623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Crop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313432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Rain, temperature and plant greenness  →  harvest forecast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2491740"/>
            <a:ext cx="868680" cy="107442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Livestock module"/>
          <p:cNvSpPr/>
          <p:nvPr/>
        </p:nvSpPr>
        <p:spPr>
          <a:xfrm>
            <a:off x="640080" y="3703320"/>
            <a:ext cx="3931920" cy="17830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Livestock module badge"/>
          <p:cNvSpPr/>
          <p:nvPr/>
        </p:nvSpPr>
        <p:spPr>
          <a:xfrm>
            <a:off x="914400" y="397764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Livestock module" descr="Livestock modu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7764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395935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Livestock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416552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GPS, activity and body temperature  →  unusual behaviour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572000" y="3566160"/>
            <a:ext cx="868680" cy="102870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ngine"/>
          <p:cNvSpPr/>
          <p:nvPr/>
        </p:nvSpPr>
        <p:spPr>
          <a:xfrm>
            <a:off x="5440680" y="2194560"/>
            <a:ext cx="2743200" cy="2743200"/>
          </a:xfrm>
          <a:prstGeom prst="roundRect">
            <a:avLst>
              <a:gd name="adj" fmla="val 7000"/>
            </a:avLst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Early-warning engine badge"/>
          <p:cNvSpPr/>
          <p:nvPr/>
        </p:nvSpPr>
        <p:spPr>
          <a:xfrm>
            <a:off x="5715000" y="242316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Early-warning engine" descr="Early-warning eng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4231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3429000"/>
            <a:ext cx="2194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Early-warning engine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merges, ranks and explains every alert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83880" y="3566160"/>
            <a:ext cx="411480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lerts"/>
          <p:cNvSpPr/>
          <p:nvPr/>
        </p:nvSpPr>
        <p:spPr>
          <a:xfrm>
            <a:off x="8595360" y="2194560"/>
            <a:ext cx="2956255" cy="2743200"/>
          </a:xfrm>
          <a:prstGeom prst="roundRect">
            <a:avLst>
              <a:gd name="adj" fmla="val 7000"/>
            </a:avLst>
          </a:prstGeom>
          <a:solidFill>
            <a:srgbClr val="0F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2423160"/>
            <a:ext cx="24076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3F6F8"/>
                </a:solidFill>
                <a:latin typeface="Calibri"/>
              </a:rPr>
              <a:t>Clear alerts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AEB9C3"/>
                </a:solidFill>
                <a:latin typeface="Calibri"/>
              </a:rPr>
              <a:t>Risk level, reason and advice in English and Setswana, for farmers and vets</a:t>
            </a:r>
          </a:p>
        </p:txBody>
      </p:sp>
      <p:pic>
        <p:nvPicPr>
          <p:cNvPr id="22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Every alert says what, why and what to do</a:t>
            </a:r>
          </a:p>
        </p:txBody>
      </p:sp>
      <p:sp>
        <p:nvSpPr>
          <p:cNvPr id="3" name="Example alert"/>
          <p:cNvSpPr/>
          <p:nvPr/>
        </p:nvSpPr>
        <p:spPr>
          <a:xfrm>
            <a:off x="640080" y="1645920"/>
            <a:ext cx="7040880" cy="4251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05840" y="2011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▲  High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205740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Animal H3-05 · herd H3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B36"/>
                </a:solidFill>
                <a:latin typeface="Calibri"/>
              </a:rPr>
              <a:t>H3-05 may be lost or stolen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46120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D2B36"/>
                </a:solidFill>
                <a:latin typeface="Calibri"/>
              </a:rPr>
              <a:t>It has moved away from its herd on 5 days in a row and is now about 29 km from it.</a:t>
            </a:r>
          </a:p>
        </p:txBody>
      </p:sp>
      <p:sp>
        <p:nvSpPr>
          <p:cNvPr id="8" name="Advice"/>
          <p:cNvSpPr/>
          <p:nvPr/>
        </p:nvSpPr>
        <p:spPr>
          <a:xfrm>
            <a:off x="1005840" y="4251960"/>
            <a:ext cx="6309360" cy="13258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4407408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56626C"/>
                </a:solidFill>
                <a:latin typeface="Calibri"/>
              </a:rPr>
              <a:t>What to do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1D2B36"/>
                </a:solidFill>
                <a:latin typeface="Calibri"/>
              </a:rPr>
              <a:t>Look for it today and report it to the police if it is missing.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7647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Risk level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High, Medium or Low, visible at a glance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31546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31363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Plain reason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no jargon, the numbers stay in the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5262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5079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Next step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concrete advice, also in Setswana</a:t>
            </a:r>
          </a:p>
        </p:txBody>
      </p:sp>
      <p:pic>
        <p:nvPicPr>
          <p:cNvPr id="16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One dashboard for the whole district</a:t>
            </a:r>
          </a:p>
        </p:txBody>
      </p:sp>
      <p:pic>
        <p:nvPicPr>
          <p:cNvPr id="3" name="Dashboard map of the Southern district: animals coloured by risk, with the path of straying animal H3-05" descr="Dashboard map of the Southern district: animals coloured by risk, with the path of straying animal H3-0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6995160" cy="4563122"/>
          </a:xfrm>
          <a:prstGeom prst="rect">
            <a:avLst/>
          </a:prstGeom>
          <a:ln w="12700">
            <a:solidFill>
              <a:srgbClr val="DCE2E7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092440" y="160020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Livestock map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every animal, coloured by risk; the dashed line is H3-05's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301752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Alert list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most urgent first, each with a status: open, acknowledged, resolved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443484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Crops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yield history per site and the forecast for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5806440"/>
            <a:ext cx="34591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Runs in any web browser</a:t>
            </a:r>
          </a:p>
        </p:txBody>
      </p:sp>
      <p:pic>
        <p:nvPicPr>
          <p:cNvPr id="8" name="AgriSense BW logo" descr="AgriSense BW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 advTm="16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Our first hardware prototype</a:t>
            </a:r>
          </a:p>
        </p:txBody>
      </p:sp>
      <p:sp>
        <p:nvSpPr>
          <p:cNvPr id="3" name="Collar"/>
          <p:cNvSpPr/>
          <p:nvPr/>
        </p:nvSpPr>
        <p:spPr>
          <a:xfrm>
            <a:off x="640080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llar badge"/>
          <p:cNvSpPr/>
          <p:nvPr/>
        </p:nvSpPr>
        <p:spPr>
          <a:xfrm>
            <a:off x="914400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ollar" descr="Col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Collar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skin temperature and activity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Seeed XIAO nRF52840, GY‑906 infrared thermometer and accelerometer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67912" y="2926080"/>
            <a:ext cx="603504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776472" y="2395728"/>
            <a:ext cx="7498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6626C"/>
                </a:solidFill>
                <a:latin typeface="Calibri"/>
              </a:rPr>
              <a:t>Bluetooth</a:t>
            </a:r>
          </a:p>
        </p:txBody>
      </p:sp>
      <p:sp>
        <p:nvSpPr>
          <p:cNvPr id="10" name="Gateway"/>
          <p:cNvSpPr/>
          <p:nvPr/>
        </p:nvSpPr>
        <p:spPr>
          <a:xfrm>
            <a:off x="4544568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ateway badge"/>
          <p:cNvSpPr/>
          <p:nvPr/>
        </p:nvSpPr>
        <p:spPr>
          <a:xfrm>
            <a:off x="4818888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Gateway" descr="Gatewa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182880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24728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283464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collects collars and rain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ESP32 and Flying Fish rain sensor, at the kraal or field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0" y="2926080"/>
            <a:ext cx="603504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80960" y="2395728"/>
            <a:ext cx="7498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6626C"/>
                </a:solidFill>
                <a:latin typeface="Calibri"/>
              </a:rPr>
              <a:t>Wi-Fi</a:t>
            </a:r>
          </a:p>
        </p:txBody>
      </p:sp>
      <p:sp>
        <p:nvSpPr>
          <p:cNvPr id="17" name="Dashboard"/>
          <p:cNvSpPr/>
          <p:nvPr/>
        </p:nvSpPr>
        <p:spPr>
          <a:xfrm>
            <a:off x="8449056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ashboard badge"/>
          <p:cNvSpPr/>
          <p:nvPr/>
        </p:nvSpPr>
        <p:spPr>
          <a:xfrm>
            <a:off x="8723376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Dashboard" descr="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76" y="182880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729216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283464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high temperature, not seen, raining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Live Sensors tab with alerts</a:t>
            </a:r>
          </a:p>
        </p:txBody>
      </p:sp>
      <p:sp>
        <p:nvSpPr>
          <p:cNvPr id="22" name="Field version"/>
          <p:cNvSpPr/>
          <p:nvPr/>
        </p:nvSpPr>
        <p:spPr>
          <a:xfrm>
            <a:off x="640080" y="4572000"/>
            <a:ext cx="10911535" cy="1097280"/>
          </a:xfrm>
          <a:prstGeom prst="roundRect">
            <a:avLst>
              <a:gd name="adj" fmla="val 7000"/>
            </a:avLst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727448"/>
            <a:ext cx="1027145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For real herds: </a:t>
            </a:r>
            <a:r>
              <a:rPr sz="1800" b="0">
                <a:solidFill>
                  <a:srgbClr val="1D2B36"/>
                </a:solidFill>
                <a:latin typeface="Calibri"/>
              </a:rPr>
              <a:t>a GPS module, long-range radio (LoRa or the mobile network), solar power and a real rain gauge. </a:t>
            </a:r>
            <a:r>
              <a:rPr sz="1800" b="0">
                <a:solidFill>
                  <a:srgbClr val="56626C"/>
                </a:solidFill>
                <a:latin typeface="Calibri"/>
              </a:rPr>
              <a:t>Skin temperature must be calibrated against a vet thermometer.</a:t>
            </a:r>
          </a:p>
        </p:txBody>
      </p:sp>
      <p:pic>
        <p:nvPicPr>
          <p:cNvPr id="24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Our prototype for the Southern district</a:t>
            </a:r>
          </a:p>
        </p:txBody>
      </p:sp>
      <p:sp>
        <p:nvSpPr>
          <p:cNvPr id="3" name="Stat crop sites forecast"/>
          <p:cNvSpPr/>
          <p:nvPr/>
        </p:nvSpPr>
        <p:spPr>
          <a:xfrm>
            <a:off x="64008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" y="2057400"/>
            <a:ext cx="256032" cy="256032"/>
          </a:xfrm>
          <a:prstGeom prst="ellipse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crop sites forecast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2 of them at risk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of a poor harvest</a:t>
            </a:r>
          </a:p>
        </p:txBody>
      </p:sp>
      <p:sp>
        <p:nvSpPr>
          <p:cNvPr id="7" name="Stat animals tracked"/>
          <p:cNvSpPr/>
          <p:nvPr/>
        </p:nvSpPr>
        <p:spPr>
          <a:xfrm>
            <a:off x="342900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49040" y="2057400"/>
            <a:ext cx="256032" cy="256032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animals tracked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for 30 days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in 3 herds</a:t>
            </a:r>
          </a:p>
        </p:txBody>
      </p:sp>
      <p:sp>
        <p:nvSpPr>
          <p:cNvPr id="11" name="Stat high-risk animals"/>
          <p:cNvSpPr/>
          <p:nvPr/>
        </p:nvSpPr>
        <p:spPr>
          <a:xfrm>
            <a:off x="621792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537960" y="2057400"/>
            <a:ext cx="256032" cy="256032"/>
          </a:xfrm>
          <a:prstGeom prst="ellipse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high-risk animals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2 possibly ill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1 possibly lost</a:t>
            </a:r>
          </a:p>
        </p:txBody>
      </p:sp>
      <p:sp>
        <p:nvSpPr>
          <p:cNvPr id="15" name="Stat alerts"/>
          <p:cNvSpPr/>
          <p:nvPr/>
        </p:nvSpPr>
        <p:spPr>
          <a:xfrm>
            <a:off x="900684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26880" y="2057400"/>
            <a:ext cx="256032" cy="256032"/>
          </a:xfrm>
          <a:prstGeom prst="ellipse">
            <a:avLst/>
          </a:prstGeom>
          <a:solidFill>
            <a:srgbClr val="A86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alerts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ranked by urgency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each with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911535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2200" b="1" dirty="0">
                <a:solidFill>
                  <a:srgbClr val="1D2B36"/>
                </a:solidFill>
                <a:latin typeface="Calibri"/>
              </a:rPr>
              <a:t>Note: </a:t>
            </a:r>
            <a:r>
              <a:rPr sz="2200" b="0" dirty="0">
                <a:solidFill>
                  <a:srgbClr val="56626C"/>
                </a:solidFill>
                <a:latin typeface="Calibri"/>
              </a:rPr>
              <a:t>All numbers come from simulated sample data, so the next step is real farms.</a:t>
            </a:r>
          </a:p>
        </p:txBody>
      </p:sp>
      <p:pic>
        <p:nvPicPr>
          <p:cNvPr id="20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 advTm="14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3F6F8"/>
                </a:solidFill>
                <a:latin typeface="Calibri"/>
              </a:rPr>
              <a:t>Next: real farms, real data, and partners</a:t>
            </a:r>
          </a:p>
        </p:txBody>
      </p:sp>
      <p:sp>
        <p:nvSpPr>
          <p:cNvPr id="3" name="Our next steps"/>
          <p:cNvSpPr/>
          <p:nvPr/>
        </p:nvSpPr>
        <p:spPr>
          <a:xfrm>
            <a:off x="640080" y="1600200"/>
            <a:ext cx="5181447" cy="3429000"/>
          </a:xfrm>
          <a:prstGeom prst="roundRect">
            <a:avLst>
              <a:gd name="adj" fmla="val 7000"/>
            </a:avLst>
          </a:prstGeom>
          <a:solidFill>
            <a:srgbClr val="1D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4499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A86C8"/>
                </a:solidFill>
                <a:latin typeface="Calibri"/>
              </a:rPr>
              <a:t>Our next steps</a:t>
            </a:r>
          </a:p>
        </p:txBody>
      </p:sp>
      <p:sp>
        <p:nvSpPr>
          <p:cNvPr id="5" name="Oval 4"/>
          <p:cNvSpPr/>
          <p:nvPr/>
        </p:nvSpPr>
        <p:spPr>
          <a:xfrm>
            <a:off x="1005840" y="267004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0" y="256032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GPS collars on a pilot farm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344728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333756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Live weather and satellite data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422452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5880" y="411480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Leaf-photo disease detection for crops</a:t>
            </a:r>
          </a:p>
        </p:txBody>
      </p:sp>
      <p:sp>
        <p:nvSpPr>
          <p:cNvPr id="11" name="We are looking for"/>
          <p:cNvSpPr/>
          <p:nvPr/>
        </p:nvSpPr>
        <p:spPr>
          <a:xfrm>
            <a:off x="6370167" y="1600200"/>
            <a:ext cx="5181447" cy="3429000"/>
          </a:xfrm>
          <a:prstGeom prst="roundRect">
            <a:avLst>
              <a:gd name="adj" fmla="val 7000"/>
            </a:avLst>
          </a:prstGeom>
          <a:solidFill>
            <a:srgbClr val="1D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35927" y="1874519"/>
            <a:ext cx="44499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D08A3C"/>
                </a:solidFill>
                <a:latin typeface="Calibri"/>
              </a:rPr>
              <a:t>We are looking for</a:t>
            </a:r>
          </a:p>
        </p:txBody>
      </p:sp>
      <p:sp>
        <p:nvSpPr>
          <p:cNvPr id="13" name="Oval 12"/>
          <p:cNvSpPr/>
          <p:nvPr/>
        </p:nvSpPr>
        <p:spPr>
          <a:xfrm>
            <a:off x="6735927" y="267004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55967" y="256032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Livestock-tracking and sensor partners</a:t>
            </a:r>
          </a:p>
        </p:txBody>
      </p:sp>
      <p:sp>
        <p:nvSpPr>
          <p:cNvPr id="15" name="Oval 14"/>
          <p:cNvSpPr/>
          <p:nvPr/>
        </p:nvSpPr>
        <p:spPr>
          <a:xfrm>
            <a:off x="6735927" y="344728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55967" y="333756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Access to farm, weather and yield data</a:t>
            </a:r>
          </a:p>
        </p:txBody>
      </p:sp>
      <p:sp>
        <p:nvSpPr>
          <p:cNvPr id="17" name="Oval 16"/>
          <p:cNvSpPr/>
          <p:nvPr/>
        </p:nvSpPr>
        <p:spPr>
          <a:xfrm>
            <a:off x="6735927" y="422452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55967" y="411480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Farms and vets to test it with 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3F6F8"/>
                </a:solidFill>
                <a:latin typeface="Calibri"/>
              </a:rPr>
              <a:t>Talk to us at the booth  ·  </a:t>
            </a:r>
            <a:r>
              <a:rPr sz="2000" b="0">
                <a:solidFill>
                  <a:srgbClr val="AEB9C3"/>
                </a:solidFill>
                <a:latin typeface="Calibri"/>
              </a:rPr>
              <a:t>github.com/PhilippSchoeneberg/AgriSenseBW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EB9C3"/>
                </a:solidFill>
                <a:latin typeface="Calibri"/>
              </a:rPr>
              <a:t>Abel Lefika Molefhi  ·  Edward Gabathusi  ·  Philipp Schöneberg  ·  Thapelo Segosebe</a:t>
            </a:r>
          </a:p>
        </p:txBody>
      </p:sp>
      <p:pic>
        <p:nvPicPr>
          <p:cNvPr id="21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3F6F8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AEB9C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 advTm="16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883</Words>
  <Application>Microsoft Macintosh PowerPoint</Application>
  <PresentationFormat>Widescreen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AgriSense BW</dc:title>
  <dc:subject>Early warnings for crops and livestock in Botswana</dc:subject>
  <dc:creator>Data Science Club, Botho University</dc:creator>
  <cp:keywords/>
  <dc:description>generated using python-pptx</dc:description>
  <cp:lastModifiedBy>Philipp Schöneberg</cp:lastModifiedBy>
  <cp:revision>2</cp:revision>
  <dcterms:created xsi:type="dcterms:W3CDTF">2013-01-27T09:14:16Z</dcterms:created>
  <dcterms:modified xsi:type="dcterms:W3CDTF">2026-10-14T15:32:46Z</dcterms:modified>
  <cp:category/>
</cp:coreProperties>
</file>