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30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2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30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86682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SOUTHERN DISTRICT, BOTSWANA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99742"/>
            <a:ext cx="10883392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i="0" dirty="0">
                <a:solidFill>
                  <a:srgbClr val="F6F4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AgriSense BW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812800" y="3795117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D9E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smart agriculture for Botswana: crops, livestock and early warning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86858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7C8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Eddie | Thapelo | Abel | Phillip | Eazy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problem and our answer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3380284" cy="234374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297311"/>
            <a:ext cx="295191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Drought, animal disease and stock theft hit Botswana farmers hard.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3150" y="3195836"/>
            <a:ext cx="295191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 are noticed too late.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623616"/>
            <a:ext cx="3380383" cy="234374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1880791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AgriSense BW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2984" y="2297311"/>
            <a:ext cx="295201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with two modules: crops and livestock.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2984" y="2938661"/>
            <a:ext cx="295201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early-warning engine joins them.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741" y="1623616"/>
            <a:ext cx="3380284" cy="234374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2916" y="1880791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farmers get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52916" y="2297311"/>
            <a:ext cx="295191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alerts in English and Setswana.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52916" y="2938661"/>
            <a:ext cx="295191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levels: Low, Medium and High.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 and pilot area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3380284" cy="2343150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95191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9832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73150" y="2680891"/>
            <a:ext cx="2951912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in the Southern District: Kanye, Moshupa, Jwaneng, Good Hope, Mabutsane and Mmathethe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23616"/>
            <a:ext cx="3380383" cy="2343150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80791"/>
            <a:ext cx="295201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9832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144</a:t>
            </a:r>
            <a:endParaRPr lang="en-US" sz="5500" dirty="0"/>
          </a:p>
        </p:txBody>
      </p:sp>
      <p:sp>
        <p:nvSpPr>
          <p:cNvPr id="8" name="Text 6"/>
          <p:cNvSpPr/>
          <p:nvPr/>
        </p:nvSpPr>
        <p:spPr>
          <a:xfrm>
            <a:off x="4662984" y="2680891"/>
            <a:ext cx="295201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rows: 24 seasons across 6 places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623616"/>
            <a:ext cx="3380284" cy="2343150"/>
          </a:xfrm>
          <a:prstGeom prst="roundRect">
            <a:avLst>
              <a:gd name="adj" fmla="val 4201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80791"/>
            <a:ext cx="295191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9832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900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8252916" y="2680891"/>
            <a:ext cx="295191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 rows: 30 cattle tracked for 30 days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274741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ndvi, yield and livestock values are sample data. Real FAO national yields (about 0.13 to 0.45 t/ha) were used to keep them realistic.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Crop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2470745"/>
          </a:xfrm>
          <a:prstGeom prst="roundRect">
            <a:avLst>
              <a:gd name="adj" fmla="val 3984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it works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2973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rainfall, temperature and ndvi (plant greenness).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3150" y="293866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model predicts yield in tonnes per hectare.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322836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below 70% of average is High, 70 to 90% is Medium, above 90% is Low.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0775" y="1623616"/>
            <a:ext cx="5175250" cy="2470745"/>
          </a:xfrm>
          <a:prstGeom prst="roundRect">
            <a:avLst>
              <a:gd name="adj" fmla="val 3984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57950" y="22973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predictions are close to the sample values. Example, Kanye: 0.21 predicted, 0.198 actual.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7950" y="293866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shows the pipeline works. It does not yet show accuracy on real farms.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Livestock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272792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2973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Illness: body temperature 39.5 °C or higher with activity 40 or lower. Medium on day one, High from day two.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3150" y="293866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Movement: far above the herd's normal daily distance. High at 3 km or more.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623616"/>
            <a:ext cx="5175250" cy="272792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7950" y="22973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sick animals and the 1 wandering animal found from their first day.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57950" y="293866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of 36 alerts are real problems. False alarms fell from 22 to 1.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7950" y="35800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raises an outbreak warning for herd H2 (H2-04, H2-07, H2-09) on 23 September.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early-warning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693172" cy="3369270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53341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rules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297311"/>
            <a:ext cx="5334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language:</a:t>
            </a: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reason is rewritten so a farmer can read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3150" y="2938661"/>
            <a:ext cx="5334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repeats:</a:t>
            </a: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same problem on the same animal, day after day, becomes one alert.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580011"/>
            <a:ext cx="5334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Straying rule:</a:t>
            </a: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unusual movement on 3 or more days in a row is High.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3150" y="4221361"/>
            <a:ext cx="5334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Outbreak rule:</a:t>
            </a: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or more possibly ill animals in one district within 7 days give a High warning for veterinary services.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18697" y="1623616"/>
            <a:ext cx="4657328" cy="3369270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5872" y="1880791"/>
            <a:ext cx="426726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Delivery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75872" y="2297311"/>
            <a:ext cx="426726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in English and Setswana from one template file.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75872" y="2938661"/>
            <a:ext cx="426726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keeps alert statuses when the alerts are rebuilt.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75872" y="3580011"/>
            <a:ext cx="426726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Alerts, Livestock and Crops tabs, and a map of flagged animals.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530086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engine, database and dashboard by Phillip.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441"/>
            <a:ext cx="5181600" cy="2641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pic>
        <p:nvPicPr>
          <p:cNvPr id="4" name="Image 0" descr="Dashboard Alerts tab showing the outbreak warning for herd H2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819150" y="1626791"/>
            <a:ext cx="5168900" cy="2628900"/>
          </a:xfrm>
          <a:prstGeom prst="roundRect">
            <a:avLst>
              <a:gd name="adj" fmla="val 362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623616"/>
            <a:ext cx="5175250" cy="2635250"/>
          </a:xfrm>
          <a:prstGeom prst="roundRect">
            <a:avLst>
              <a:gd name="adj" fmla="val 3735"/>
            </a:avLst>
          </a:prstGeom>
          <a:noFill/>
          <a:ln w="6350">
            <a:solidFill>
              <a:srgbClr val="DFE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389041"/>
            <a:ext cx="533704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tab:</a:t>
            </a:r>
            <a:r>
              <a:rPr lang="en-US" sz="14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outbreak warning for herd H2 comes first, with advice in English or Setswana.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97600" y="1620441"/>
            <a:ext cx="5181600" cy="2641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pic>
        <p:nvPicPr>
          <p:cNvPr id="8" name="Image 1" descr="Dashboard map with animal positions and the dashed path of a straying animal">    </p:cNvPr>
          <p:cNvPicPr>
            <a:picLocks noChangeAspect="1"/>
          </p:cNvPicPr>
          <p:nvPr/>
        </p:nvPicPr>
        <p:blipFill>
          <a:blip r:embed="rId2"/>
          <a:srcRect l="-167" r="-167" t="0" b="0"/>
          <a:stretch/>
        </p:blipFill>
        <p:spPr>
          <a:xfrm>
            <a:off x="6203950" y="1626791"/>
            <a:ext cx="5168900" cy="2628900"/>
          </a:xfrm>
          <a:prstGeom prst="roundRect">
            <a:avLst>
              <a:gd name="adj" fmla="val 3623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6200775" y="1623616"/>
            <a:ext cx="5175250" cy="2635250"/>
          </a:xfrm>
          <a:prstGeom prst="roundRect">
            <a:avLst>
              <a:gd name="adj" fmla="val 3735"/>
            </a:avLst>
          </a:prstGeom>
          <a:noFill/>
          <a:ln w="6350">
            <a:solidFill>
              <a:srgbClr val="DFE3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97600" y="4389041"/>
            <a:ext cx="533704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 tab:</a:t>
            </a:r>
            <a:r>
              <a:rPr lang="en-US" sz="14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 of the herds, with the dashed path of the straying animal H3-05.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38358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7 | Sample data, built by Phillip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230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Limits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3753445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2973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ndvi, yield and livestock data are sample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3150" y="293866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GPS fix per day, so movement at night cannot be seen.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58001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outbreak warning is only as good as the livestock detection.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3150" y="4221361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Setswana advice texts still need a native speaker.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3150" y="486271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still need checking by a farmer or a vet.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0775" y="1623616"/>
            <a:ext cx="5175250" cy="3753445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6350">
            <a:solidFill>
              <a:srgbClr val="DFE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950" y="1880791"/>
            <a:ext cx="480072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2F7D5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Next steps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57950" y="229731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GPS fixes per day.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57950" y="2681486"/>
            <a:ext cx="480072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weather and NDVI data (NASA POWER, CHIRPS) and satellite imagery.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57950" y="3322836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detection from leaf photos.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7950" y="370701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D2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and accounts for farmers and vets.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4400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AgriSense BW |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Sense BW: AI Smart Agriculture for Botswana">
  <a:themeElements>
    <a:clrScheme name="AgriSense BW: AI Smart Agriculture for Botswana">
      <a:dk1>
        <a:srgbClr val="12302A"/>
      </a:dk1>
      <a:lt1>
        <a:srgbClr val="F6F4EC"/>
      </a:lt1>
      <a:dk2>
        <a:srgbClr val="4B615B"/>
      </a:dk2>
      <a:lt2>
        <a:srgbClr val="DFE0D9"/>
      </a:lt2>
      <a:accent1>
        <a:srgbClr val="2F7D5B"/>
      </a:accent1>
      <a:accent2>
        <a:srgbClr val="D98324"/>
      </a:accent2>
      <a:accent3>
        <a:srgbClr val="5B6660"/>
      </a:accent3>
      <a:accent4>
        <a:srgbClr val="D9E4DC"/>
      </a:accent4>
      <a:accent5>
        <a:srgbClr val="B7C8BD"/>
      </a:accent5>
      <a:accent6>
        <a:srgbClr val="9AA0A6"/>
      </a:accent6>
      <a:hlink>
        <a:srgbClr val="0563C1"/>
      </a:hlink>
      <a:folHlink>
        <a:srgbClr val="954F72"/>
      </a:folHlink>
    </a:clrScheme>
    <a:fontScheme name="AgriSense BW: AI Smart Agriculture for Botswan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AgriSense BW: AI Smart Agriculture for Botswana</dc:title>
  <dc:subject/>
  <dc:creator/>
  <cp:lastModifiedBy/>
  <cp:revision>1</cp:revision>
  <dcterms:created xsi:type="dcterms:W3CDTF">2026-10-14T10:04:51Z</dcterms:created>
  <dcterms:modified xsi:type="dcterms:W3CDTF">2026-10-14T10:04:51Z</dcterms:modified>
</cp:coreProperties>
</file>